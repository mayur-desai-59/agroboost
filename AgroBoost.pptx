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57" r:id="rId2"/>
    <p:sldId id="282" r:id="rId3"/>
    <p:sldId id="313" r:id="rId4"/>
    <p:sldId id="284" r:id="rId5"/>
    <p:sldId id="314" r:id="rId6"/>
    <p:sldId id="316" r:id="rId7"/>
    <p:sldId id="315" r:id="rId8"/>
    <p:sldId id="311" r:id="rId9"/>
    <p:sldId id="317" r:id="rId10"/>
    <p:sldId id="318" r:id="rId11"/>
    <p:sldId id="264" r:id="rId12"/>
    <p:sldId id="312" r:id="rId13"/>
    <p:sldId id="319" r:id="rId14"/>
    <p:sldId id="320" r:id="rId15"/>
    <p:sldId id="321" r:id="rId16"/>
    <p:sldId id="305" r:id="rId17"/>
    <p:sldId id="322"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77C30D9-461B-4141-A08C-0AEC4AE82100}">
          <p14:sldIdLst/>
        </p14:section>
        <p14:section name="Front Matter" id="{05CDB963-8A90-4731-BD28-2E30D3FF484D}">
          <p14:sldIdLst>
            <p14:sldId id="257"/>
          </p14:sldIdLst>
        </p14:section>
        <p14:section name="Group Member 2" id="{32CC8908-2DD1-4586-B325-D49E78524F47}">
          <p14:sldIdLst>
            <p14:sldId id="282"/>
            <p14:sldId id="313"/>
            <p14:sldId id="284"/>
            <p14:sldId id="314"/>
            <p14:sldId id="316"/>
            <p14:sldId id="315"/>
            <p14:sldId id="311"/>
            <p14:sldId id="317"/>
            <p14:sldId id="318"/>
            <p14:sldId id="264"/>
            <p14:sldId id="312"/>
            <p14:sldId id="319"/>
            <p14:sldId id="320"/>
            <p14:sldId id="321"/>
          </p14:sldIdLst>
        </p14:section>
        <p14:section name="Group Member 1" id="{67C82EDF-45E1-4F40-99E4-61CBD9D71B6D}">
          <p14:sldIdLst>
            <p14:sldId id="305"/>
            <p14:sldId id="322"/>
          </p14:sldIdLst>
        </p14:section>
        <p14:section name="General Closing" id="{29DF22C9-5858-4D83-9365-7B659F87349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53" d="100"/>
          <a:sy n="53" d="100"/>
        </p:scale>
        <p:origin x="1185" y="8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48EDC93-46B3-47E4-84A0-99170218FCE7}" type="datetimeFigureOut">
              <a:rPr lang="en-IN" smtClean="0"/>
              <a:t>25-05-2025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07CCEA7-B0F6-45BC-AC66-7781246BBABF}" type="slidenum">
              <a:rPr lang="en-IN" smtClean="0"/>
              <a:t>‹#›</a:t>
            </a:fld>
            <a:endParaRPr lang="en-IN"/>
          </a:p>
        </p:txBody>
      </p:sp>
    </p:spTree>
    <p:extLst>
      <p:ext uri="{BB962C8B-B14F-4D97-AF65-F5344CB8AC3E}">
        <p14:creationId xmlns:p14="http://schemas.microsoft.com/office/powerpoint/2010/main" val="9109627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cs typeface="Calibri"/>
              </a:rPr>
              <a:t>We designed this template</a:t>
            </a:r>
            <a:r>
              <a:rPr lang="en-US" baseline="0" dirty="0">
                <a:cs typeface="Calibri"/>
              </a:rPr>
              <a:t> so that each member of the project team has a set of slides with its own theme where he/she can present their research. Members, here’s how you add a new slide to just your set: </a:t>
            </a:r>
          </a:p>
          <a:p>
            <a:br>
              <a:rPr lang="en-US" baseline="0" dirty="0">
                <a:cs typeface="Calibri"/>
              </a:rPr>
            </a:br>
            <a:endParaRPr lang="en-US" baseline="0" dirty="0">
              <a:cs typeface="Calibri"/>
            </a:endParaRPr>
          </a:p>
          <a:p>
            <a:pPr marL="0" indent="0">
              <a:buFont typeface="Arial" panose="020B0604020202020204" pitchFamily="34" charset="0"/>
              <a:buNone/>
            </a:pPr>
            <a:r>
              <a:rPr lang="en-US" dirty="0">
                <a:cs typeface="Calibri"/>
              </a:rPr>
              <a:t>Mark where you want to add the slide:</a:t>
            </a:r>
            <a:r>
              <a:rPr lang="en-US" baseline="0" dirty="0">
                <a:cs typeface="Calibri"/>
              </a:rPr>
              <a:t> Select </a:t>
            </a:r>
            <a:r>
              <a:rPr lang="en-US" dirty="0">
                <a:cs typeface="Calibri"/>
              </a:rPr>
              <a:t>an </a:t>
            </a:r>
            <a:r>
              <a:rPr lang="en-US" baseline="0" dirty="0">
                <a:cs typeface="Calibri"/>
              </a:rPr>
              <a:t>existing one in the Thumbnails pane, c</a:t>
            </a:r>
            <a:r>
              <a:rPr lang="en-US" dirty="0"/>
              <a:t>lick the New Slide button,</a:t>
            </a:r>
            <a:r>
              <a:rPr lang="en-US" baseline="0" dirty="0"/>
              <a:t> then </a:t>
            </a:r>
            <a:r>
              <a:rPr lang="en-US" dirty="0"/>
              <a:t>choose a layout.</a:t>
            </a:r>
            <a:r>
              <a:rPr lang="en-US" baseline="0" dirty="0"/>
              <a:t> </a:t>
            </a:r>
          </a:p>
          <a:p>
            <a:pPr marL="0" indent="0">
              <a:buFont typeface="Arial" panose="020B0604020202020204" pitchFamily="34" charset="0"/>
              <a:buNone/>
            </a:pPr>
            <a:br>
              <a:rPr lang="en-US" baseline="0" dirty="0">
                <a:cs typeface="Calibri"/>
              </a:rPr>
            </a:br>
            <a:endParaRPr lang="en-US" baseline="0" dirty="0">
              <a:cs typeface="Calibri"/>
            </a:endParaRPr>
          </a:p>
          <a:p>
            <a:pPr marL="0" indent="0">
              <a:buFont typeface="Arial" panose="020B0604020202020204" pitchFamily="34" charset="0"/>
              <a:buNone/>
            </a:pPr>
            <a:r>
              <a:rPr lang="en-US" baseline="0" dirty="0"/>
              <a:t>The new slide gets the same theme as the previous one you selected. </a:t>
            </a:r>
          </a:p>
          <a:p>
            <a:pPr marL="0" indent="0">
              <a:buFont typeface="Arial" panose="020B0604020202020204" pitchFamily="34" charset="0"/>
              <a:buNone/>
            </a:pPr>
            <a:br>
              <a:rPr lang="en-US" b="1" baseline="0" dirty="0">
                <a:cs typeface="Calibri"/>
              </a:rPr>
            </a:br>
            <a:endParaRPr lang="en-US" b="1" baseline="0" dirty="0">
              <a:cs typeface="Calibri"/>
            </a:endParaRPr>
          </a:p>
          <a:p>
            <a:pPr marL="0" indent="0">
              <a:buFont typeface="Arial" panose="020B0604020202020204" pitchFamily="34" charset="0"/>
              <a:buNone/>
            </a:pPr>
            <a:r>
              <a:rPr lang="en-US" b="1" baseline="0" dirty="0"/>
              <a:t>Careful! </a:t>
            </a:r>
            <a:r>
              <a:rPr lang="en-US" baseline="0" dirty="0"/>
              <a:t>Don’t annoy your fellow presenters by accidentally changing their themes. That can happen if you choose a theme Variant from the Design tab, which changes all of the slides in your presentation to that look</a:t>
            </a:r>
            <a:r>
              <a:rPr lang="en-US" baseline="0"/>
              <a:t>. </a:t>
            </a:r>
            <a:endParaRPr lang="en-US" dirty="0"/>
          </a:p>
        </p:txBody>
      </p:sp>
      <p:sp>
        <p:nvSpPr>
          <p:cNvPr id="4" name="Slide Number Placeholder 3"/>
          <p:cNvSpPr>
            <a:spLocks noGrp="1"/>
          </p:cNvSpPr>
          <p:nvPr>
            <p:ph type="sldNum" sz="quarter" idx="10"/>
          </p:nvPr>
        </p:nvSpPr>
        <p:spPr/>
        <p:txBody>
          <a:bodyPr/>
          <a:lstStyle/>
          <a:p>
            <a:fld id="{A7666ED7-631A-46AF-B451-227D0A8685A0}" type="slidenum">
              <a:rPr lang="en-US"/>
              <a:pPr/>
              <a:t>1</a:t>
            </a:fld>
            <a:endParaRPr lang="en-US"/>
          </a:p>
        </p:txBody>
      </p:sp>
    </p:spTree>
    <p:extLst>
      <p:ext uri="{BB962C8B-B14F-4D97-AF65-F5344CB8AC3E}">
        <p14:creationId xmlns:p14="http://schemas.microsoft.com/office/powerpoint/2010/main" val="23573828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cs typeface="Calibri"/>
              </a:rPr>
              <a:t>We designed this template</a:t>
            </a:r>
            <a:r>
              <a:rPr lang="en-US" baseline="0" dirty="0">
                <a:cs typeface="Calibri"/>
              </a:rPr>
              <a:t> so that each member of the project team has a set of slides with its own theme where he/she can present their research. Members, here’s how you add a new slide to just your set: </a:t>
            </a:r>
          </a:p>
          <a:p>
            <a:br>
              <a:rPr lang="en-US" baseline="0" dirty="0">
                <a:cs typeface="Calibri"/>
              </a:rPr>
            </a:br>
            <a:endParaRPr lang="en-US" baseline="0" dirty="0">
              <a:cs typeface="Calibri"/>
            </a:endParaRPr>
          </a:p>
          <a:p>
            <a:pPr marL="0" indent="0">
              <a:buFont typeface="Arial" panose="020B0604020202020204" pitchFamily="34" charset="0"/>
              <a:buNone/>
            </a:pPr>
            <a:r>
              <a:rPr lang="en-US" dirty="0">
                <a:cs typeface="Calibri"/>
              </a:rPr>
              <a:t>Mark where you want to add the slide:</a:t>
            </a:r>
            <a:r>
              <a:rPr lang="en-US" baseline="0" dirty="0">
                <a:cs typeface="Calibri"/>
              </a:rPr>
              <a:t> Select </a:t>
            </a:r>
            <a:r>
              <a:rPr lang="en-US" dirty="0">
                <a:cs typeface="Calibri"/>
              </a:rPr>
              <a:t>an </a:t>
            </a:r>
            <a:r>
              <a:rPr lang="en-US" baseline="0" dirty="0">
                <a:cs typeface="Calibri"/>
              </a:rPr>
              <a:t>existing one in the Thumbnails pane, c</a:t>
            </a:r>
            <a:r>
              <a:rPr lang="en-US" dirty="0"/>
              <a:t>lick the New Slide button,</a:t>
            </a:r>
            <a:r>
              <a:rPr lang="en-US" baseline="0" dirty="0"/>
              <a:t> then </a:t>
            </a:r>
            <a:r>
              <a:rPr lang="en-US" dirty="0"/>
              <a:t>choose a layout.</a:t>
            </a:r>
            <a:r>
              <a:rPr lang="en-US" baseline="0" dirty="0"/>
              <a:t> </a:t>
            </a:r>
          </a:p>
          <a:p>
            <a:pPr marL="0" indent="0">
              <a:buFont typeface="Arial" panose="020B0604020202020204" pitchFamily="34" charset="0"/>
              <a:buNone/>
            </a:pPr>
            <a:br>
              <a:rPr lang="en-US" baseline="0" dirty="0">
                <a:cs typeface="Calibri"/>
              </a:rPr>
            </a:br>
            <a:endParaRPr lang="en-US" baseline="0" dirty="0">
              <a:cs typeface="Calibri"/>
            </a:endParaRPr>
          </a:p>
          <a:p>
            <a:pPr marL="0" indent="0">
              <a:buFont typeface="Arial" panose="020B0604020202020204" pitchFamily="34" charset="0"/>
              <a:buNone/>
            </a:pPr>
            <a:r>
              <a:rPr lang="en-US" baseline="0" dirty="0"/>
              <a:t>The new slide gets the same theme as the previous one you selected. </a:t>
            </a:r>
          </a:p>
          <a:p>
            <a:pPr marL="0" indent="0">
              <a:buFont typeface="Arial" panose="020B0604020202020204" pitchFamily="34" charset="0"/>
              <a:buNone/>
            </a:pPr>
            <a:br>
              <a:rPr lang="en-US" b="1" baseline="0" dirty="0">
                <a:cs typeface="Calibri"/>
              </a:rPr>
            </a:br>
            <a:endParaRPr lang="en-US" b="1" baseline="0" dirty="0">
              <a:cs typeface="Calibri"/>
            </a:endParaRPr>
          </a:p>
          <a:p>
            <a:pPr marL="0" indent="0">
              <a:buFont typeface="Arial" panose="020B0604020202020204" pitchFamily="34" charset="0"/>
              <a:buNone/>
            </a:pPr>
            <a:r>
              <a:rPr lang="en-US" b="1" baseline="0" dirty="0"/>
              <a:t>Careful! </a:t>
            </a:r>
            <a:r>
              <a:rPr lang="en-US" baseline="0" dirty="0"/>
              <a:t>Don’t annoy your fellow presenters by accidentally changing their themes. That can happen if you choose a theme Variant from the Design tab, which changes all of the slides in your presentation to that look</a:t>
            </a:r>
            <a:r>
              <a:rPr lang="en-US" baseline="0"/>
              <a:t>. </a:t>
            </a:r>
            <a:endParaRPr lang="en-US" dirty="0"/>
          </a:p>
        </p:txBody>
      </p:sp>
      <p:sp>
        <p:nvSpPr>
          <p:cNvPr id="4" name="Slide Number Placeholder 3"/>
          <p:cNvSpPr>
            <a:spLocks noGrp="1"/>
          </p:cNvSpPr>
          <p:nvPr>
            <p:ph type="sldNum" sz="quarter" idx="10"/>
          </p:nvPr>
        </p:nvSpPr>
        <p:spPr/>
        <p:txBody>
          <a:bodyPr/>
          <a:lstStyle/>
          <a:p>
            <a:fld id="{A7666ED7-631A-46AF-B451-227D0A8685A0}" type="slidenum">
              <a:rPr lang="en-US"/>
              <a:pPr/>
              <a:t>2</a:t>
            </a:fld>
            <a:endParaRPr lang="en-US"/>
          </a:p>
        </p:txBody>
      </p:sp>
    </p:spTree>
    <p:extLst>
      <p:ext uri="{BB962C8B-B14F-4D97-AF65-F5344CB8AC3E}">
        <p14:creationId xmlns:p14="http://schemas.microsoft.com/office/powerpoint/2010/main" val="23573828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7666ED7-631A-46AF-B451-227D0A8685A0}" type="slidenum">
              <a:rPr lang="en-US"/>
              <a:pPr/>
              <a:t>4</a:t>
            </a:fld>
            <a:endParaRPr lang="en-US"/>
          </a:p>
        </p:txBody>
      </p:sp>
    </p:spTree>
    <p:extLst>
      <p:ext uri="{BB962C8B-B14F-4D97-AF65-F5344CB8AC3E}">
        <p14:creationId xmlns:p14="http://schemas.microsoft.com/office/powerpoint/2010/main" val="27161906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9A6396-B498-BEA0-E82E-976006AB18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73B981-E803-D9A8-9E2C-490B38D53FA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378BD2-E057-7CBF-9C96-19AAD0C8314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6EB79DB-64B7-1AA0-237F-6BFA97BA1624}"/>
              </a:ext>
            </a:extLst>
          </p:cNvPr>
          <p:cNvSpPr>
            <a:spLocks noGrp="1"/>
          </p:cNvSpPr>
          <p:nvPr>
            <p:ph type="sldNum" sz="quarter" idx="10"/>
          </p:nvPr>
        </p:nvSpPr>
        <p:spPr/>
        <p:txBody>
          <a:bodyPr/>
          <a:lstStyle/>
          <a:p>
            <a:fld id="{A7666ED7-631A-46AF-B451-227D0A8685A0}" type="slidenum">
              <a:rPr lang="en-US"/>
              <a:pPr/>
              <a:t>8</a:t>
            </a:fld>
            <a:endParaRPr lang="en-US"/>
          </a:p>
        </p:txBody>
      </p:sp>
    </p:spTree>
    <p:extLst>
      <p:ext uri="{BB962C8B-B14F-4D97-AF65-F5344CB8AC3E}">
        <p14:creationId xmlns:p14="http://schemas.microsoft.com/office/powerpoint/2010/main" val="17350389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07CCEA7-B0F6-45BC-AC66-7781246BBABF}" type="slidenum">
              <a:rPr lang="en-IN" smtClean="0"/>
              <a:t>13</a:t>
            </a:fld>
            <a:endParaRPr lang="en-IN"/>
          </a:p>
        </p:txBody>
      </p:sp>
    </p:spTree>
    <p:extLst>
      <p:ext uri="{BB962C8B-B14F-4D97-AF65-F5344CB8AC3E}">
        <p14:creationId xmlns:p14="http://schemas.microsoft.com/office/powerpoint/2010/main" val="17898603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89D7BB-4D19-2F01-4B52-D73AE45FBA9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755F4DF-028B-D21F-FE35-10E15901074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0A8842A-060A-45EC-2D83-DC8A7F5F5FA7}"/>
              </a:ext>
            </a:extLst>
          </p:cNvPr>
          <p:cNvSpPr>
            <a:spLocks noGrp="1"/>
          </p:cNvSpPr>
          <p:nvPr>
            <p:ph type="dt" sz="half" idx="10"/>
          </p:nvPr>
        </p:nvSpPr>
        <p:spPr/>
        <p:txBody>
          <a:bodyPr/>
          <a:lstStyle/>
          <a:p>
            <a:fld id="{F82E05BB-10FB-4EE2-87C4-FF838368BEB4}" type="datetimeFigureOut">
              <a:rPr lang="en-IN" smtClean="0"/>
              <a:t>25-05-2025</a:t>
            </a:fld>
            <a:endParaRPr lang="en-IN"/>
          </a:p>
        </p:txBody>
      </p:sp>
      <p:sp>
        <p:nvSpPr>
          <p:cNvPr id="5" name="Footer Placeholder 4">
            <a:extLst>
              <a:ext uri="{FF2B5EF4-FFF2-40B4-BE49-F238E27FC236}">
                <a16:creationId xmlns:a16="http://schemas.microsoft.com/office/drawing/2014/main" id="{6E378A77-4730-93DA-0A13-A9E1E9625D0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DDF5CE0-6912-562D-3247-8C09433860BD}"/>
              </a:ext>
            </a:extLst>
          </p:cNvPr>
          <p:cNvSpPr>
            <a:spLocks noGrp="1"/>
          </p:cNvSpPr>
          <p:nvPr>
            <p:ph type="sldNum" sz="quarter" idx="12"/>
          </p:nvPr>
        </p:nvSpPr>
        <p:spPr/>
        <p:txBody>
          <a:bodyPr/>
          <a:lstStyle/>
          <a:p>
            <a:fld id="{DE40EA23-4BCF-4293-A458-4747E61A2A95}" type="slidenum">
              <a:rPr lang="en-IN" smtClean="0"/>
              <a:t>‹#›</a:t>
            </a:fld>
            <a:endParaRPr lang="en-IN"/>
          </a:p>
        </p:txBody>
      </p:sp>
    </p:spTree>
    <p:extLst>
      <p:ext uri="{BB962C8B-B14F-4D97-AF65-F5344CB8AC3E}">
        <p14:creationId xmlns:p14="http://schemas.microsoft.com/office/powerpoint/2010/main" val="8102796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49FB46-044B-085D-36B8-705DA1775A7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4B8E10D-4CAC-2B69-3F08-C065502A69C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587E64F-87E6-50B6-A81F-59CC10AB04AD}"/>
              </a:ext>
            </a:extLst>
          </p:cNvPr>
          <p:cNvSpPr>
            <a:spLocks noGrp="1"/>
          </p:cNvSpPr>
          <p:nvPr>
            <p:ph type="dt" sz="half" idx="10"/>
          </p:nvPr>
        </p:nvSpPr>
        <p:spPr/>
        <p:txBody>
          <a:bodyPr/>
          <a:lstStyle/>
          <a:p>
            <a:fld id="{F82E05BB-10FB-4EE2-87C4-FF838368BEB4}" type="datetimeFigureOut">
              <a:rPr lang="en-IN" smtClean="0"/>
              <a:t>25-05-2025</a:t>
            </a:fld>
            <a:endParaRPr lang="en-IN"/>
          </a:p>
        </p:txBody>
      </p:sp>
      <p:sp>
        <p:nvSpPr>
          <p:cNvPr id="5" name="Footer Placeholder 4">
            <a:extLst>
              <a:ext uri="{FF2B5EF4-FFF2-40B4-BE49-F238E27FC236}">
                <a16:creationId xmlns:a16="http://schemas.microsoft.com/office/drawing/2014/main" id="{A8FC1FD8-38AE-65BC-A414-DB8E59EDD19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324C122-CD99-BCB0-304C-C57963C6B884}"/>
              </a:ext>
            </a:extLst>
          </p:cNvPr>
          <p:cNvSpPr>
            <a:spLocks noGrp="1"/>
          </p:cNvSpPr>
          <p:nvPr>
            <p:ph type="sldNum" sz="quarter" idx="12"/>
          </p:nvPr>
        </p:nvSpPr>
        <p:spPr/>
        <p:txBody>
          <a:bodyPr/>
          <a:lstStyle/>
          <a:p>
            <a:fld id="{DE40EA23-4BCF-4293-A458-4747E61A2A95}" type="slidenum">
              <a:rPr lang="en-IN" smtClean="0"/>
              <a:t>‹#›</a:t>
            </a:fld>
            <a:endParaRPr lang="en-IN"/>
          </a:p>
        </p:txBody>
      </p:sp>
    </p:spTree>
    <p:extLst>
      <p:ext uri="{BB962C8B-B14F-4D97-AF65-F5344CB8AC3E}">
        <p14:creationId xmlns:p14="http://schemas.microsoft.com/office/powerpoint/2010/main" val="6518320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FB878E-20B2-45BC-69CF-AAF3D4F7473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CF880A6-B8FB-7229-A4E9-6357AF6B6E9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32A9B3F-2752-B74E-FA20-297EB90C924F}"/>
              </a:ext>
            </a:extLst>
          </p:cNvPr>
          <p:cNvSpPr>
            <a:spLocks noGrp="1"/>
          </p:cNvSpPr>
          <p:nvPr>
            <p:ph type="dt" sz="half" idx="10"/>
          </p:nvPr>
        </p:nvSpPr>
        <p:spPr/>
        <p:txBody>
          <a:bodyPr/>
          <a:lstStyle/>
          <a:p>
            <a:fld id="{F82E05BB-10FB-4EE2-87C4-FF838368BEB4}" type="datetimeFigureOut">
              <a:rPr lang="en-IN" smtClean="0"/>
              <a:t>25-05-2025</a:t>
            </a:fld>
            <a:endParaRPr lang="en-IN"/>
          </a:p>
        </p:txBody>
      </p:sp>
      <p:sp>
        <p:nvSpPr>
          <p:cNvPr id="5" name="Footer Placeholder 4">
            <a:extLst>
              <a:ext uri="{FF2B5EF4-FFF2-40B4-BE49-F238E27FC236}">
                <a16:creationId xmlns:a16="http://schemas.microsoft.com/office/drawing/2014/main" id="{BF8B203A-F3F0-0623-F579-481778C2D90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EC7C65A-BA93-578A-B8BC-3C5094BE2D9B}"/>
              </a:ext>
            </a:extLst>
          </p:cNvPr>
          <p:cNvSpPr>
            <a:spLocks noGrp="1"/>
          </p:cNvSpPr>
          <p:nvPr>
            <p:ph type="sldNum" sz="quarter" idx="12"/>
          </p:nvPr>
        </p:nvSpPr>
        <p:spPr/>
        <p:txBody>
          <a:bodyPr/>
          <a:lstStyle/>
          <a:p>
            <a:fld id="{DE40EA23-4BCF-4293-A458-4747E61A2A95}" type="slidenum">
              <a:rPr lang="en-IN" smtClean="0"/>
              <a:t>‹#›</a:t>
            </a:fld>
            <a:endParaRPr lang="en-IN"/>
          </a:p>
        </p:txBody>
      </p:sp>
    </p:spTree>
    <p:extLst>
      <p:ext uri="{BB962C8B-B14F-4D97-AF65-F5344CB8AC3E}">
        <p14:creationId xmlns:p14="http://schemas.microsoft.com/office/powerpoint/2010/main" val="38919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A4B5D1-88FB-2CD5-F62F-C3082B165BA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806A13A-2AC5-E8D0-8EE2-E2A7926F591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AC2E4A2-B049-3E55-2AF0-72E8BC70E0E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FEFE324-2B14-CF23-1BA5-2257CA4CC293}"/>
              </a:ext>
            </a:extLst>
          </p:cNvPr>
          <p:cNvSpPr>
            <a:spLocks noGrp="1"/>
          </p:cNvSpPr>
          <p:nvPr>
            <p:ph type="dt" sz="half" idx="10"/>
          </p:nvPr>
        </p:nvSpPr>
        <p:spPr/>
        <p:txBody>
          <a:bodyPr/>
          <a:lstStyle/>
          <a:p>
            <a:fld id="{F82E05BB-10FB-4EE2-87C4-FF838368BEB4}" type="datetimeFigureOut">
              <a:rPr lang="en-IN" smtClean="0"/>
              <a:t>25-05-2025</a:t>
            </a:fld>
            <a:endParaRPr lang="en-IN"/>
          </a:p>
        </p:txBody>
      </p:sp>
      <p:sp>
        <p:nvSpPr>
          <p:cNvPr id="6" name="Footer Placeholder 5">
            <a:extLst>
              <a:ext uri="{FF2B5EF4-FFF2-40B4-BE49-F238E27FC236}">
                <a16:creationId xmlns:a16="http://schemas.microsoft.com/office/drawing/2014/main" id="{FB23B6BE-E6D1-15C1-42E8-02946F3AA77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B09E1B0-8E52-D8E1-3E99-802E662859B3}"/>
              </a:ext>
            </a:extLst>
          </p:cNvPr>
          <p:cNvSpPr>
            <a:spLocks noGrp="1"/>
          </p:cNvSpPr>
          <p:nvPr>
            <p:ph type="sldNum" sz="quarter" idx="12"/>
          </p:nvPr>
        </p:nvSpPr>
        <p:spPr/>
        <p:txBody>
          <a:bodyPr/>
          <a:lstStyle/>
          <a:p>
            <a:fld id="{DE40EA23-4BCF-4293-A458-4747E61A2A95}" type="slidenum">
              <a:rPr lang="en-IN" smtClean="0"/>
              <a:t>‹#›</a:t>
            </a:fld>
            <a:endParaRPr lang="en-IN"/>
          </a:p>
        </p:txBody>
      </p:sp>
    </p:spTree>
    <p:extLst>
      <p:ext uri="{BB962C8B-B14F-4D97-AF65-F5344CB8AC3E}">
        <p14:creationId xmlns:p14="http://schemas.microsoft.com/office/powerpoint/2010/main" val="3047845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40422A-EBF2-2CDD-321F-DCAF26A97D8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1C3B1FA-71F2-B492-CB01-B5DB3EEE142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B05C71E-6ED0-C017-0B1B-659BEB5B7FA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055B1B0-FA99-FE15-DDDF-4B9E7B4941B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6CB62CD-8BF7-D2A0-F290-8F3103C8097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76F6964-B953-4141-F051-D25FFBA2BC44}"/>
              </a:ext>
            </a:extLst>
          </p:cNvPr>
          <p:cNvSpPr>
            <a:spLocks noGrp="1"/>
          </p:cNvSpPr>
          <p:nvPr>
            <p:ph type="dt" sz="half" idx="10"/>
          </p:nvPr>
        </p:nvSpPr>
        <p:spPr/>
        <p:txBody>
          <a:bodyPr/>
          <a:lstStyle/>
          <a:p>
            <a:fld id="{F82E05BB-10FB-4EE2-87C4-FF838368BEB4}" type="datetimeFigureOut">
              <a:rPr lang="en-IN" smtClean="0"/>
              <a:t>25-05-2025</a:t>
            </a:fld>
            <a:endParaRPr lang="en-IN"/>
          </a:p>
        </p:txBody>
      </p:sp>
      <p:sp>
        <p:nvSpPr>
          <p:cNvPr id="8" name="Footer Placeholder 7">
            <a:extLst>
              <a:ext uri="{FF2B5EF4-FFF2-40B4-BE49-F238E27FC236}">
                <a16:creationId xmlns:a16="http://schemas.microsoft.com/office/drawing/2014/main" id="{473A3306-BC78-E6C7-696F-10714011BD3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E493DD7-BE49-07EA-EBBE-FA7746DCEDD9}"/>
              </a:ext>
            </a:extLst>
          </p:cNvPr>
          <p:cNvSpPr>
            <a:spLocks noGrp="1"/>
          </p:cNvSpPr>
          <p:nvPr>
            <p:ph type="sldNum" sz="quarter" idx="12"/>
          </p:nvPr>
        </p:nvSpPr>
        <p:spPr/>
        <p:txBody>
          <a:bodyPr/>
          <a:lstStyle/>
          <a:p>
            <a:fld id="{DE40EA23-4BCF-4293-A458-4747E61A2A95}" type="slidenum">
              <a:rPr lang="en-IN" smtClean="0"/>
              <a:t>‹#›</a:t>
            </a:fld>
            <a:endParaRPr lang="en-IN"/>
          </a:p>
        </p:txBody>
      </p:sp>
    </p:spTree>
    <p:extLst>
      <p:ext uri="{BB962C8B-B14F-4D97-AF65-F5344CB8AC3E}">
        <p14:creationId xmlns:p14="http://schemas.microsoft.com/office/powerpoint/2010/main" val="15024017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428198-416B-62A4-61AC-181BE1B0CFA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B392C28-8408-B730-B99C-40178ECA6EE3}"/>
              </a:ext>
            </a:extLst>
          </p:cNvPr>
          <p:cNvSpPr>
            <a:spLocks noGrp="1"/>
          </p:cNvSpPr>
          <p:nvPr>
            <p:ph type="dt" sz="half" idx="10"/>
          </p:nvPr>
        </p:nvSpPr>
        <p:spPr/>
        <p:txBody>
          <a:bodyPr/>
          <a:lstStyle/>
          <a:p>
            <a:fld id="{F82E05BB-10FB-4EE2-87C4-FF838368BEB4}" type="datetimeFigureOut">
              <a:rPr lang="en-IN" smtClean="0"/>
              <a:t>25-05-2025</a:t>
            </a:fld>
            <a:endParaRPr lang="en-IN"/>
          </a:p>
        </p:txBody>
      </p:sp>
      <p:sp>
        <p:nvSpPr>
          <p:cNvPr id="4" name="Footer Placeholder 3">
            <a:extLst>
              <a:ext uri="{FF2B5EF4-FFF2-40B4-BE49-F238E27FC236}">
                <a16:creationId xmlns:a16="http://schemas.microsoft.com/office/drawing/2014/main" id="{9D4FF6F7-DC09-7FCE-8B0B-D0E2E46ADEC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9094007-E8F3-CFD7-5F11-850EFB07B9BE}"/>
              </a:ext>
            </a:extLst>
          </p:cNvPr>
          <p:cNvSpPr>
            <a:spLocks noGrp="1"/>
          </p:cNvSpPr>
          <p:nvPr>
            <p:ph type="sldNum" sz="quarter" idx="12"/>
          </p:nvPr>
        </p:nvSpPr>
        <p:spPr/>
        <p:txBody>
          <a:bodyPr/>
          <a:lstStyle/>
          <a:p>
            <a:fld id="{DE40EA23-4BCF-4293-A458-4747E61A2A95}" type="slidenum">
              <a:rPr lang="en-IN" smtClean="0"/>
              <a:t>‹#›</a:t>
            </a:fld>
            <a:endParaRPr lang="en-IN"/>
          </a:p>
        </p:txBody>
      </p:sp>
    </p:spTree>
    <p:extLst>
      <p:ext uri="{BB962C8B-B14F-4D97-AF65-F5344CB8AC3E}">
        <p14:creationId xmlns:p14="http://schemas.microsoft.com/office/powerpoint/2010/main" val="32523797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A518C30-E540-293D-6902-C814B7E2755A}"/>
              </a:ext>
            </a:extLst>
          </p:cNvPr>
          <p:cNvSpPr>
            <a:spLocks noGrp="1"/>
          </p:cNvSpPr>
          <p:nvPr>
            <p:ph type="dt" sz="half" idx="10"/>
          </p:nvPr>
        </p:nvSpPr>
        <p:spPr/>
        <p:txBody>
          <a:bodyPr/>
          <a:lstStyle/>
          <a:p>
            <a:fld id="{F82E05BB-10FB-4EE2-87C4-FF838368BEB4}" type="datetimeFigureOut">
              <a:rPr lang="en-IN" smtClean="0"/>
              <a:t>25-05-2025</a:t>
            </a:fld>
            <a:endParaRPr lang="en-IN"/>
          </a:p>
        </p:txBody>
      </p:sp>
      <p:sp>
        <p:nvSpPr>
          <p:cNvPr id="3" name="Footer Placeholder 2">
            <a:extLst>
              <a:ext uri="{FF2B5EF4-FFF2-40B4-BE49-F238E27FC236}">
                <a16:creationId xmlns:a16="http://schemas.microsoft.com/office/drawing/2014/main" id="{DA71B538-F7AE-6D40-0153-E506BCF5530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45F7C699-3BEB-EC8A-F053-7825B43371DB}"/>
              </a:ext>
            </a:extLst>
          </p:cNvPr>
          <p:cNvSpPr>
            <a:spLocks noGrp="1"/>
          </p:cNvSpPr>
          <p:nvPr>
            <p:ph type="sldNum" sz="quarter" idx="12"/>
          </p:nvPr>
        </p:nvSpPr>
        <p:spPr/>
        <p:txBody>
          <a:bodyPr/>
          <a:lstStyle/>
          <a:p>
            <a:fld id="{DE40EA23-4BCF-4293-A458-4747E61A2A95}" type="slidenum">
              <a:rPr lang="en-IN" smtClean="0"/>
              <a:t>‹#›</a:t>
            </a:fld>
            <a:endParaRPr lang="en-IN"/>
          </a:p>
        </p:txBody>
      </p:sp>
    </p:spTree>
    <p:extLst>
      <p:ext uri="{BB962C8B-B14F-4D97-AF65-F5344CB8AC3E}">
        <p14:creationId xmlns:p14="http://schemas.microsoft.com/office/powerpoint/2010/main" val="41542610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9B9368-F2BC-1421-6A5F-0A88337373E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436B0FD-F9AB-04D3-49B1-A1AE05FE772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B106D4E-E5B9-C517-D582-DEEB06D90A5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0E646C8-3DC7-F53F-2BE9-E6110FEBBCC2}"/>
              </a:ext>
            </a:extLst>
          </p:cNvPr>
          <p:cNvSpPr>
            <a:spLocks noGrp="1"/>
          </p:cNvSpPr>
          <p:nvPr>
            <p:ph type="dt" sz="half" idx="10"/>
          </p:nvPr>
        </p:nvSpPr>
        <p:spPr/>
        <p:txBody>
          <a:bodyPr/>
          <a:lstStyle/>
          <a:p>
            <a:fld id="{F82E05BB-10FB-4EE2-87C4-FF838368BEB4}" type="datetimeFigureOut">
              <a:rPr lang="en-IN" smtClean="0"/>
              <a:t>25-05-2025</a:t>
            </a:fld>
            <a:endParaRPr lang="en-IN"/>
          </a:p>
        </p:txBody>
      </p:sp>
      <p:sp>
        <p:nvSpPr>
          <p:cNvPr id="6" name="Footer Placeholder 5">
            <a:extLst>
              <a:ext uri="{FF2B5EF4-FFF2-40B4-BE49-F238E27FC236}">
                <a16:creationId xmlns:a16="http://schemas.microsoft.com/office/drawing/2014/main" id="{858B6A96-8185-F7EC-9C68-EC762C07047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D71014C-CD5A-AD42-DAEC-EA97B4308DA7}"/>
              </a:ext>
            </a:extLst>
          </p:cNvPr>
          <p:cNvSpPr>
            <a:spLocks noGrp="1"/>
          </p:cNvSpPr>
          <p:nvPr>
            <p:ph type="sldNum" sz="quarter" idx="12"/>
          </p:nvPr>
        </p:nvSpPr>
        <p:spPr/>
        <p:txBody>
          <a:bodyPr/>
          <a:lstStyle/>
          <a:p>
            <a:fld id="{DE40EA23-4BCF-4293-A458-4747E61A2A95}" type="slidenum">
              <a:rPr lang="en-IN" smtClean="0"/>
              <a:t>‹#›</a:t>
            </a:fld>
            <a:endParaRPr lang="en-IN"/>
          </a:p>
        </p:txBody>
      </p:sp>
    </p:spTree>
    <p:extLst>
      <p:ext uri="{BB962C8B-B14F-4D97-AF65-F5344CB8AC3E}">
        <p14:creationId xmlns:p14="http://schemas.microsoft.com/office/powerpoint/2010/main" val="20094859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801297-B112-09FB-67F3-0B336BF48C9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3DD34CA-E493-1CFA-98F5-4C2B566D1C3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551D695-8DFC-382F-C868-F2C71A26AC6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5B09821-D21C-B2FE-7B30-62CC8E435610}"/>
              </a:ext>
            </a:extLst>
          </p:cNvPr>
          <p:cNvSpPr>
            <a:spLocks noGrp="1"/>
          </p:cNvSpPr>
          <p:nvPr>
            <p:ph type="dt" sz="half" idx="10"/>
          </p:nvPr>
        </p:nvSpPr>
        <p:spPr/>
        <p:txBody>
          <a:bodyPr/>
          <a:lstStyle/>
          <a:p>
            <a:fld id="{F82E05BB-10FB-4EE2-87C4-FF838368BEB4}" type="datetimeFigureOut">
              <a:rPr lang="en-IN" smtClean="0"/>
              <a:t>25-05-2025</a:t>
            </a:fld>
            <a:endParaRPr lang="en-IN"/>
          </a:p>
        </p:txBody>
      </p:sp>
      <p:sp>
        <p:nvSpPr>
          <p:cNvPr id="6" name="Footer Placeholder 5">
            <a:extLst>
              <a:ext uri="{FF2B5EF4-FFF2-40B4-BE49-F238E27FC236}">
                <a16:creationId xmlns:a16="http://schemas.microsoft.com/office/drawing/2014/main" id="{354946CD-D2BF-B6E5-4B34-80D1B1C28D6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762FD03-4A2D-01B7-4BB6-D2C71F40B920}"/>
              </a:ext>
            </a:extLst>
          </p:cNvPr>
          <p:cNvSpPr>
            <a:spLocks noGrp="1"/>
          </p:cNvSpPr>
          <p:nvPr>
            <p:ph type="sldNum" sz="quarter" idx="12"/>
          </p:nvPr>
        </p:nvSpPr>
        <p:spPr/>
        <p:txBody>
          <a:bodyPr/>
          <a:lstStyle/>
          <a:p>
            <a:fld id="{DE40EA23-4BCF-4293-A458-4747E61A2A95}" type="slidenum">
              <a:rPr lang="en-IN" smtClean="0"/>
              <a:t>‹#›</a:t>
            </a:fld>
            <a:endParaRPr lang="en-IN"/>
          </a:p>
        </p:txBody>
      </p:sp>
    </p:spTree>
    <p:extLst>
      <p:ext uri="{BB962C8B-B14F-4D97-AF65-F5344CB8AC3E}">
        <p14:creationId xmlns:p14="http://schemas.microsoft.com/office/powerpoint/2010/main" val="3796421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1F269F-01B7-34AA-06F2-045B2AD5C76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649E22D-F1C6-6591-403F-BEC92363CC0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0DB583A-0295-77C9-28E5-A280667A3A8B}"/>
              </a:ext>
            </a:extLst>
          </p:cNvPr>
          <p:cNvSpPr>
            <a:spLocks noGrp="1"/>
          </p:cNvSpPr>
          <p:nvPr>
            <p:ph type="dt" sz="half" idx="10"/>
          </p:nvPr>
        </p:nvSpPr>
        <p:spPr/>
        <p:txBody>
          <a:bodyPr/>
          <a:lstStyle/>
          <a:p>
            <a:fld id="{F82E05BB-10FB-4EE2-87C4-FF838368BEB4}" type="datetimeFigureOut">
              <a:rPr lang="en-IN" smtClean="0"/>
              <a:t>25-05-2025</a:t>
            </a:fld>
            <a:endParaRPr lang="en-IN"/>
          </a:p>
        </p:txBody>
      </p:sp>
      <p:sp>
        <p:nvSpPr>
          <p:cNvPr id="5" name="Footer Placeholder 4">
            <a:extLst>
              <a:ext uri="{FF2B5EF4-FFF2-40B4-BE49-F238E27FC236}">
                <a16:creationId xmlns:a16="http://schemas.microsoft.com/office/drawing/2014/main" id="{8186CC4D-EAEC-036C-70D2-90EFF4EF7A4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96E07E8-D345-A363-01AE-589B672140E3}"/>
              </a:ext>
            </a:extLst>
          </p:cNvPr>
          <p:cNvSpPr>
            <a:spLocks noGrp="1"/>
          </p:cNvSpPr>
          <p:nvPr>
            <p:ph type="sldNum" sz="quarter" idx="12"/>
          </p:nvPr>
        </p:nvSpPr>
        <p:spPr/>
        <p:txBody>
          <a:bodyPr/>
          <a:lstStyle/>
          <a:p>
            <a:fld id="{DE40EA23-4BCF-4293-A458-4747E61A2A95}" type="slidenum">
              <a:rPr lang="en-IN" smtClean="0"/>
              <a:t>‹#›</a:t>
            </a:fld>
            <a:endParaRPr lang="en-IN"/>
          </a:p>
        </p:txBody>
      </p:sp>
    </p:spTree>
    <p:extLst>
      <p:ext uri="{BB962C8B-B14F-4D97-AF65-F5344CB8AC3E}">
        <p14:creationId xmlns:p14="http://schemas.microsoft.com/office/powerpoint/2010/main" val="2825145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8758CAA-67B8-81E4-C3DD-B040CC872D5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BCCF356-5D3C-22F0-F154-FF18FF2CC26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5A86350-04D7-1BDB-008B-C01EC1351A94}"/>
              </a:ext>
            </a:extLst>
          </p:cNvPr>
          <p:cNvSpPr>
            <a:spLocks noGrp="1"/>
          </p:cNvSpPr>
          <p:nvPr>
            <p:ph type="dt" sz="half" idx="10"/>
          </p:nvPr>
        </p:nvSpPr>
        <p:spPr/>
        <p:txBody>
          <a:bodyPr/>
          <a:lstStyle/>
          <a:p>
            <a:fld id="{F82E05BB-10FB-4EE2-87C4-FF838368BEB4}" type="datetimeFigureOut">
              <a:rPr lang="en-IN" smtClean="0"/>
              <a:t>25-05-2025</a:t>
            </a:fld>
            <a:endParaRPr lang="en-IN"/>
          </a:p>
        </p:txBody>
      </p:sp>
      <p:sp>
        <p:nvSpPr>
          <p:cNvPr id="5" name="Footer Placeholder 4">
            <a:extLst>
              <a:ext uri="{FF2B5EF4-FFF2-40B4-BE49-F238E27FC236}">
                <a16:creationId xmlns:a16="http://schemas.microsoft.com/office/drawing/2014/main" id="{A800B31A-2305-AE07-4868-7FDC0365FBE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2E49A35-B9AB-FCDE-F562-F8A884DA5F03}"/>
              </a:ext>
            </a:extLst>
          </p:cNvPr>
          <p:cNvSpPr>
            <a:spLocks noGrp="1"/>
          </p:cNvSpPr>
          <p:nvPr>
            <p:ph type="sldNum" sz="quarter" idx="12"/>
          </p:nvPr>
        </p:nvSpPr>
        <p:spPr/>
        <p:txBody>
          <a:bodyPr/>
          <a:lstStyle/>
          <a:p>
            <a:fld id="{DE40EA23-4BCF-4293-A458-4747E61A2A95}" type="slidenum">
              <a:rPr lang="en-IN" smtClean="0"/>
              <a:t>‹#›</a:t>
            </a:fld>
            <a:endParaRPr lang="en-IN"/>
          </a:p>
        </p:txBody>
      </p:sp>
    </p:spTree>
    <p:extLst>
      <p:ext uri="{BB962C8B-B14F-4D97-AF65-F5344CB8AC3E}">
        <p14:creationId xmlns:p14="http://schemas.microsoft.com/office/powerpoint/2010/main" val="20200505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FC07206-57D1-096D-64D5-91EEE8070AD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016AF61-36BD-F230-651E-9792FFE82E9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2689C89-D4E8-0E9C-6280-0F70F0F1454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82E05BB-10FB-4EE2-87C4-FF838368BEB4}" type="datetimeFigureOut">
              <a:rPr lang="en-IN" smtClean="0"/>
              <a:t>25-05-2025</a:t>
            </a:fld>
            <a:endParaRPr lang="en-IN"/>
          </a:p>
        </p:txBody>
      </p:sp>
      <p:sp>
        <p:nvSpPr>
          <p:cNvPr id="5" name="Footer Placeholder 4">
            <a:extLst>
              <a:ext uri="{FF2B5EF4-FFF2-40B4-BE49-F238E27FC236}">
                <a16:creationId xmlns:a16="http://schemas.microsoft.com/office/drawing/2014/main" id="{7318ABB8-9C2B-3452-72D0-A5F4E8CD3DB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306C6008-FFD2-F87F-471F-AFC062F8BC2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E40EA23-4BCF-4293-A458-4747E61A2A95}" type="slidenum">
              <a:rPr lang="en-IN" smtClean="0"/>
              <a:t>‹#›</a:t>
            </a:fld>
            <a:endParaRPr lang="en-IN"/>
          </a:p>
        </p:txBody>
      </p:sp>
    </p:spTree>
    <p:extLst>
      <p:ext uri="{BB962C8B-B14F-4D97-AF65-F5344CB8AC3E}">
        <p14:creationId xmlns:p14="http://schemas.microsoft.com/office/powerpoint/2010/main" val="7173309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idx="4294967295"/>
          </p:nvPr>
        </p:nvSpPr>
        <p:spPr>
          <a:xfrm>
            <a:off x="-111421" y="-1078275"/>
            <a:ext cx="12082509" cy="3892550"/>
          </a:xfrm>
        </p:spPr>
        <p:txBody>
          <a:bodyPr>
            <a:normAutofit fontScale="90000"/>
          </a:bodyPr>
          <a:lstStyle/>
          <a:p>
            <a:pPr algn="ctr">
              <a:lnSpc>
                <a:spcPct val="100000"/>
              </a:lnSpc>
            </a:pPr>
            <a:br>
              <a:rPr lang="en-US" sz="7200" u="sng" dirty="0"/>
            </a:br>
            <a:br>
              <a:rPr lang="en-US" sz="7200" u="sng" dirty="0"/>
            </a:br>
            <a:br>
              <a:rPr lang="en-US" sz="7200" u="sng" dirty="0"/>
            </a:br>
            <a:br>
              <a:rPr lang="en-US" sz="7200" u="sng" dirty="0"/>
            </a:br>
            <a:br>
              <a:rPr lang="en-US" sz="7200" u="sng" dirty="0"/>
            </a:br>
            <a:r>
              <a:rPr lang="en-US" sz="3300" b="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JANATA SHIKSHANA SAMITI’S</a:t>
            </a:r>
            <a:br>
              <a:rPr lang="en-US" sz="3300" b="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br>
            <a:r>
              <a:rPr lang="en-US" sz="3300" b="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SHRI MANJUNATESHWARA INSTITUTE</a:t>
            </a:r>
            <a:br>
              <a:rPr lang="en-US" sz="3300" b="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br>
            <a:r>
              <a:rPr lang="en-US" sz="3300" b="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OF  UG AND PG STUDIES, DHARWAD</a:t>
            </a:r>
            <a:br>
              <a:rPr lang="en-US" sz="3300" b="1" dirty="0">
                <a:effectLst>
                  <a:outerShdw blurRad="38100" dist="38100" dir="2700000" algn="tl">
                    <a:srgbClr val="000000">
                      <a:alpha val="43137"/>
                    </a:srgbClr>
                  </a:outerShdw>
                </a:effectLst>
              </a:rPr>
            </a:br>
            <a:br>
              <a:rPr lang="en-US" sz="3200" b="1" dirty="0">
                <a:effectLst>
                  <a:outerShdw blurRad="38100" dist="38100" dir="2700000" algn="tl">
                    <a:srgbClr val="000000">
                      <a:alpha val="43137"/>
                    </a:srgbClr>
                  </a:outerShdw>
                </a:effectLst>
              </a:rPr>
            </a:br>
            <a:br>
              <a:rPr lang="en-US" sz="3200" b="1" dirty="0"/>
            </a:br>
            <a:br>
              <a:rPr lang="en-US" sz="3200" b="1" dirty="0"/>
            </a:br>
            <a:endParaRPr lang="en-US" sz="3900"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4294967295"/>
          </p:nvPr>
        </p:nvSpPr>
        <p:spPr>
          <a:xfrm>
            <a:off x="63892" y="5591175"/>
            <a:ext cx="9228138" cy="1384300"/>
          </a:xfrm>
        </p:spPr>
        <p:txBody>
          <a:bodyPr>
            <a:noAutofit/>
          </a:bodyPr>
          <a:lstStyle/>
          <a:p>
            <a:pPr marL="0" indent="0">
              <a:buNone/>
            </a:pPr>
            <a:r>
              <a:rPr lang="en-US" sz="2400" b="1" dirty="0">
                <a:latin typeface="Times New Roman" panose="02020603050405020304" pitchFamily="18" charset="0"/>
                <a:cs typeface="Times New Roman" panose="02020603050405020304" pitchFamily="18" charset="0"/>
              </a:rPr>
              <a:t>Presented by: Mayur Desai (Reg No: U02BF22S0160)</a:t>
            </a:r>
          </a:p>
          <a:p>
            <a:pPr marL="0" indent="0">
              <a:buNone/>
            </a:pPr>
            <a:r>
              <a:rPr lang="en-US" sz="2400" b="1" dirty="0">
                <a:latin typeface="Times New Roman" panose="02020603050405020304" pitchFamily="18" charset="0"/>
                <a:cs typeface="Times New Roman" panose="02020603050405020304" pitchFamily="18" charset="0"/>
              </a:rPr>
              <a:t>Project Guide: Miss. Yashoda Patil</a:t>
            </a:r>
          </a:p>
          <a:p>
            <a:pPr marL="0" indent="0">
              <a:buNone/>
            </a:pPr>
            <a:endParaRPr lang="en-US" sz="2400" b="1" dirty="0">
              <a:latin typeface="Times New Roman" panose="02020603050405020304" pitchFamily="18" charset="0"/>
              <a:cs typeface="Times New Roman" panose="02020603050405020304" pitchFamily="18" charset="0"/>
            </a:endParaRPr>
          </a:p>
        </p:txBody>
      </p:sp>
      <p:pic>
        <p:nvPicPr>
          <p:cNvPr id="6" name="Picture 5" descr="jss.jpg"/>
          <p:cNvPicPr>
            <a:picLocks noChangeAspect="1"/>
          </p:cNvPicPr>
          <p:nvPr/>
        </p:nvPicPr>
        <p:blipFill>
          <a:blip r:embed="rId3"/>
          <a:stretch>
            <a:fillRect/>
          </a:stretch>
        </p:blipFill>
        <p:spPr>
          <a:xfrm>
            <a:off x="4968939" y="91525"/>
            <a:ext cx="1921787" cy="1552950"/>
          </a:xfrm>
          <a:prstGeom prst="rect">
            <a:avLst/>
          </a:prstGeom>
        </p:spPr>
      </p:pic>
      <p:sp>
        <p:nvSpPr>
          <p:cNvPr id="7" name="TextBox 6">
            <a:extLst>
              <a:ext uri="{FF2B5EF4-FFF2-40B4-BE49-F238E27FC236}">
                <a16:creationId xmlns:a16="http://schemas.microsoft.com/office/drawing/2014/main" id="{892AA8D6-6EB7-4FD8-69E6-5064561B9738}"/>
              </a:ext>
            </a:extLst>
          </p:cNvPr>
          <p:cNvSpPr txBox="1"/>
          <p:nvPr/>
        </p:nvSpPr>
        <p:spPr>
          <a:xfrm>
            <a:off x="955343" y="3925726"/>
            <a:ext cx="10549720" cy="553998"/>
          </a:xfrm>
          <a:prstGeom prst="rect">
            <a:avLst/>
          </a:prstGeom>
          <a:noFill/>
        </p:spPr>
        <p:txBody>
          <a:bodyPr wrap="square" rtlCol="0">
            <a:spAutoFit/>
          </a:bodyPr>
          <a:lstStyle/>
          <a:p>
            <a:r>
              <a:rPr lang="en-IN" sz="3000" b="1" dirty="0">
                <a:solidFill>
                  <a:schemeClr val="accent5">
                    <a:lumMod val="50000"/>
                  </a:schemeClr>
                </a:solidFill>
                <a:latin typeface="Times New Roman" panose="02020603050405020304" pitchFamily="18" charset="0"/>
                <a:cs typeface="Times New Roman" panose="02020603050405020304" pitchFamily="18" charset="0"/>
              </a:rPr>
              <a:t>                Project Title-</a:t>
            </a:r>
            <a:r>
              <a:rPr lang="en-IN" sz="3000" b="1" dirty="0" err="1">
                <a:solidFill>
                  <a:schemeClr val="accent5">
                    <a:lumMod val="50000"/>
                  </a:schemeClr>
                </a:solidFill>
                <a:latin typeface="Times New Roman" panose="02020603050405020304" pitchFamily="18" charset="0"/>
                <a:cs typeface="Times New Roman" panose="02020603050405020304" pitchFamily="18" charset="0"/>
              </a:rPr>
              <a:t>AgroBoost</a:t>
            </a:r>
            <a:r>
              <a:rPr lang="en-IN" sz="3000" b="1" dirty="0">
                <a:solidFill>
                  <a:schemeClr val="accent5">
                    <a:lumMod val="50000"/>
                  </a:schemeClr>
                </a:solidFill>
                <a:latin typeface="Times New Roman" panose="02020603050405020304" pitchFamily="18" charset="0"/>
                <a:cs typeface="Times New Roman" panose="02020603050405020304" pitchFamily="18" charset="0"/>
              </a:rPr>
              <a:t>-Sai </a:t>
            </a:r>
            <a:r>
              <a:rPr lang="en-IN" sz="3000" b="1" dirty="0" err="1">
                <a:solidFill>
                  <a:schemeClr val="accent5">
                    <a:lumMod val="50000"/>
                  </a:schemeClr>
                </a:solidFill>
                <a:latin typeface="Times New Roman" panose="02020603050405020304" pitchFamily="18" charset="0"/>
                <a:cs typeface="Times New Roman" panose="02020603050405020304" pitchFamily="18" charset="0"/>
              </a:rPr>
              <a:t>Agro</a:t>
            </a:r>
            <a:r>
              <a:rPr lang="en-IN" sz="3000" b="1" dirty="0">
                <a:solidFill>
                  <a:schemeClr val="accent5">
                    <a:lumMod val="50000"/>
                  </a:schemeClr>
                </a:solidFill>
                <a:latin typeface="Times New Roman" panose="02020603050405020304" pitchFamily="18" charset="0"/>
                <a:cs typeface="Times New Roman" panose="02020603050405020304" pitchFamily="18" charset="0"/>
              </a:rPr>
              <a:t> Fertilizers</a:t>
            </a:r>
          </a:p>
        </p:txBody>
      </p:sp>
    </p:spTree>
    <p:extLst>
      <p:ext uri="{BB962C8B-B14F-4D97-AF65-F5344CB8AC3E}">
        <p14:creationId xmlns:p14="http://schemas.microsoft.com/office/powerpoint/2010/main" val="34188911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idx="4294967295"/>
          </p:nvPr>
        </p:nvSpPr>
        <p:spPr>
          <a:xfrm>
            <a:off x="0" y="212725"/>
            <a:ext cx="10782300" cy="3892550"/>
          </a:xfrm>
        </p:spPr>
        <p:txBody>
          <a:bodyPr>
            <a:normAutofit fontScale="90000"/>
          </a:bodyPr>
          <a:lstStyle/>
          <a:p>
            <a:pPr algn="ctr">
              <a:lnSpc>
                <a:spcPct val="100000"/>
              </a:lnSpc>
            </a:pPr>
            <a:br>
              <a:rPr lang="en-US" sz="7200" u="sng" dirty="0"/>
            </a:br>
            <a:br>
              <a:rPr lang="en-US" sz="7200" u="sng" dirty="0"/>
            </a:br>
            <a:br>
              <a:rPr lang="en-US" sz="7200" u="sng" dirty="0"/>
            </a:br>
            <a:br>
              <a:rPr lang="en-US" sz="7200" u="sng" dirty="0"/>
            </a:br>
            <a:endParaRPr lang="en-US" sz="5400" dirty="0"/>
          </a:p>
        </p:txBody>
      </p:sp>
      <p:sp>
        <p:nvSpPr>
          <p:cNvPr id="3" name="Subtitle 2"/>
          <p:cNvSpPr>
            <a:spLocks noGrp="1"/>
          </p:cNvSpPr>
          <p:nvPr>
            <p:ph type="subTitle" idx="4294967295"/>
          </p:nvPr>
        </p:nvSpPr>
        <p:spPr>
          <a:xfrm>
            <a:off x="-1" y="174040"/>
            <a:ext cx="12020365" cy="1149350"/>
          </a:xfrm>
        </p:spPr>
        <p:txBody>
          <a:bodyPr>
            <a:noAutofit/>
          </a:bodyPr>
          <a:lstStyle/>
          <a:p>
            <a:pPr marL="0" indent="0" algn="ctr">
              <a:buNone/>
            </a:pPr>
            <a:r>
              <a:rPr lang="en-US" sz="4400" b="1" dirty="0">
                <a:latin typeface="Times New Roman" panose="02020603050405020304" pitchFamily="18" charset="0"/>
                <a:cs typeface="Times New Roman" panose="02020603050405020304" pitchFamily="18" charset="0"/>
              </a:rPr>
              <a:t>AGROBOOST-SAI AGRO FERTILIZERS</a:t>
            </a:r>
          </a:p>
        </p:txBody>
      </p:sp>
      <p:pic>
        <p:nvPicPr>
          <p:cNvPr id="6" name="Picture 5">
            <a:extLst>
              <a:ext uri="{FF2B5EF4-FFF2-40B4-BE49-F238E27FC236}">
                <a16:creationId xmlns:a16="http://schemas.microsoft.com/office/drawing/2014/main" id="{E4C4B5BC-842F-EBAD-4099-A54040B9A17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0219" y="1045119"/>
            <a:ext cx="10631113" cy="553040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988776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C361F2AA-98A0-254A-B8E0-DA4A4F44BA61}"/>
              </a:ext>
            </a:extLst>
          </p:cNvPr>
          <p:cNvSpPr txBox="1"/>
          <p:nvPr/>
        </p:nvSpPr>
        <p:spPr>
          <a:xfrm>
            <a:off x="4476466" y="225189"/>
            <a:ext cx="5459104" cy="769441"/>
          </a:xfrm>
          <a:prstGeom prst="rect">
            <a:avLst/>
          </a:prstGeom>
          <a:noFill/>
        </p:spPr>
        <p:txBody>
          <a:bodyPr wrap="square" rtlCol="0">
            <a:spAutoFit/>
          </a:bodyPr>
          <a:lstStyle/>
          <a:p>
            <a:r>
              <a:rPr lang="en-IN" sz="4400" b="1" dirty="0">
                <a:latin typeface="Times New Roman" panose="02020603050405020304" pitchFamily="18" charset="0"/>
                <a:cs typeface="Times New Roman" panose="02020603050405020304" pitchFamily="18" charset="0"/>
              </a:rPr>
              <a:t>CONTENTS</a:t>
            </a:r>
          </a:p>
        </p:txBody>
      </p:sp>
      <p:sp>
        <p:nvSpPr>
          <p:cNvPr id="7" name="TextBox 6">
            <a:extLst>
              <a:ext uri="{FF2B5EF4-FFF2-40B4-BE49-F238E27FC236}">
                <a16:creationId xmlns:a16="http://schemas.microsoft.com/office/drawing/2014/main" id="{24C54339-D6CF-3370-0673-6D146D6B8BBD}"/>
              </a:ext>
            </a:extLst>
          </p:cNvPr>
          <p:cNvSpPr txBox="1"/>
          <p:nvPr/>
        </p:nvSpPr>
        <p:spPr>
          <a:xfrm>
            <a:off x="1084997" y="1576316"/>
            <a:ext cx="7103660" cy="5539978"/>
          </a:xfrm>
          <a:prstGeom prst="rect">
            <a:avLst/>
          </a:prstGeom>
          <a:noFill/>
        </p:spPr>
        <p:txBody>
          <a:bodyPr wrap="square" rtlCol="0">
            <a:spAutoFit/>
          </a:bodyPr>
          <a:lstStyle/>
          <a:p>
            <a:pPr marL="457200" indent="-457200">
              <a:buFont typeface="+mj-lt"/>
              <a:buAutoNum type="arabicPeriod"/>
            </a:pPr>
            <a:r>
              <a:rPr lang="en-IN" sz="2500" dirty="0">
                <a:latin typeface="Times New Roman" panose="02020603050405020304" pitchFamily="18" charset="0"/>
                <a:cs typeface="Times New Roman" panose="02020603050405020304" pitchFamily="18" charset="0"/>
              </a:rPr>
              <a:t>Introduction</a:t>
            </a:r>
          </a:p>
          <a:p>
            <a:pPr marL="457200" indent="-457200">
              <a:buFont typeface="+mj-lt"/>
              <a:buAutoNum type="arabicPeriod"/>
            </a:pPr>
            <a:r>
              <a:rPr lang="en-IN" sz="2500" dirty="0">
                <a:latin typeface="Times New Roman" panose="02020603050405020304" pitchFamily="18" charset="0"/>
                <a:cs typeface="Times New Roman" panose="02020603050405020304" pitchFamily="18" charset="0"/>
              </a:rPr>
              <a:t>Objectives</a:t>
            </a:r>
          </a:p>
          <a:p>
            <a:pPr marL="457200" indent="-457200">
              <a:buFont typeface="+mj-lt"/>
              <a:buAutoNum type="arabicPeriod"/>
            </a:pPr>
            <a:r>
              <a:rPr lang="en-IN" sz="2500" dirty="0">
                <a:latin typeface="Times New Roman" panose="02020603050405020304" pitchFamily="18" charset="0"/>
                <a:cs typeface="Times New Roman" panose="02020603050405020304" pitchFamily="18" charset="0"/>
              </a:rPr>
              <a:t>System Modules</a:t>
            </a:r>
          </a:p>
          <a:p>
            <a:pPr marL="457200" indent="-457200">
              <a:buFont typeface="+mj-lt"/>
              <a:buAutoNum type="arabicPeriod"/>
            </a:pPr>
            <a:r>
              <a:rPr lang="en-IN" sz="2500" dirty="0">
                <a:latin typeface="Times New Roman" panose="02020603050405020304" pitchFamily="18" charset="0"/>
                <a:cs typeface="Times New Roman" panose="02020603050405020304" pitchFamily="18" charset="0"/>
              </a:rPr>
              <a:t>Tools and Techniques</a:t>
            </a:r>
          </a:p>
          <a:p>
            <a:pPr marL="457200" indent="-457200">
              <a:buFont typeface="+mj-lt"/>
              <a:buAutoNum type="arabicPeriod"/>
            </a:pPr>
            <a:r>
              <a:rPr lang="en-IN" sz="2500" dirty="0">
                <a:latin typeface="Times New Roman" panose="02020603050405020304" pitchFamily="18" charset="0"/>
                <a:cs typeface="Times New Roman" panose="02020603050405020304" pitchFamily="18" charset="0"/>
              </a:rPr>
              <a:t>Process Logic</a:t>
            </a:r>
          </a:p>
          <a:p>
            <a:pPr marL="457200" indent="-457200">
              <a:buFont typeface="+mj-lt"/>
              <a:buAutoNum type="arabicPeriod"/>
            </a:pPr>
            <a:r>
              <a:rPr lang="en-IN" sz="2500" dirty="0">
                <a:latin typeface="Times New Roman" panose="02020603050405020304" pitchFamily="18" charset="0"/>
                <a:cs typeface="Times New Roman" panose="02020603050405020304" pitchFamily="18" charset="0"/>
              </a:rPr>
              <a:t>Database Structure</a:t>
            </a:r>
          </a:p>
          <a:p>
            <a:pPr marL="457200" indent="-457200">
              <a:buFont typeface="+mj-lt"/>
              <a:buAutoNum type="arabicPeriod"/>
            </a:pPr>
            <a:r>
              <a:rPr lang="en-IN" sz="2500" dirty="0">
                <a:latin typeface="Times New Roman" panose="02020603050405020304" pitchFamily="18" charset="0"/>
                <a:cs typeface="Times New Roman" panose="02020603050405020304" pitchFamily="18" charset="0"/>
              </a:rPr>
              <a:t>Features</a:t>
            </a:r>
          </a:p>
          <a:p>
            <a:pPr marL="457200" indent="-457200">
              <a:buFont typeface="+mj-lt"/>
              <a:buAutoNum type="arabicPeriod"/>
            </a:pPr>
            <a:r>
              <a:rPr lang="en-IN" sz="2500" dirty="0">
                <a:latin typeface="Times New Roman" panose="02020603050405020304" pitchFamily="18" charset="0"/>
                <a:cs typeface="Times New Roman" panose="02020603050405020304" pitchFamily="18" charset="0"/>
              </a:rPr>
              <a:t>Screenshots</a:t>
            </a:r>
          </a:p>
          <a:p>
            <a:pPr marL="457200" indent="-457200">
              <a:buFont typeface="+mj-lt"/>
              <a:buAutoNum type="arabicPeriod"/>
            </a:pPr>
            <a:r>
              <a:rPr lang="en-IN" sz="2500" dirty="0">
                <a:latin typeface="Times New Roman" panose="02020603050405020304" pitchFamily="18" charset="0"/>
                <a:cs typeface="Times New Roman" panose="02020603050405020304" pitchFamily="18" charset="0"/>
              </a:rPr>
              <a:t>Testing</a:t>
            </a:r>
          </a:p>
          <a:p>
            <a:pPr marL="457200" indent="-457200">
              <a:buFont typeface="+mj-lt"/>
              <a:buAutoNum type="arabicPeriod"/>
            </a:pPr>
            <a:r>
              <a:rPr lang="en-IN" sz="2500" dirty="0">
                <a:latin typeface="Times New Roman" panose="02020603050405020304" pitchFamily="18" charset="0"/>
                <a:cs typeface="Times New Roman" panose="02020603050405020304" pitchFamily="18" charset="0"/>
              </a:rPr>
              <a:t>Limitations</a:t>
            </a:r>
          </a:p>
          <a:p>
            <a:pPr marL="457200" indent="-457200">
              <a:buFont typeface="+mj-lt"/>
              <a:buAutoNum type="arabicPeriod"/>
            </a:pPr>
            <a:r>
              <a:rPr lang="en-IN" sz="2500" dirty="0">
                <a:latin typeface="Times New Roman" panose="02020603050405020304" pitchFamily="18" charset="0"/>
                <a:cs typeface="Times New Roman" panose="02020603050405020304" pitchFamily="18" charset="0"/>
              </a:rPr>
              <a:t>Scope</a:t>
            </a:r>
          </a:p>
          <a:p>
            <a:pPr marL="457200" indent="-457200">
              <a:buFont typeface="+mj-lt"/>
              <a:buAutoNum type="arabicPeriod"/>
            </a:pPr>
            <a:r>
              <a:rPr lang="en-IN" sz="2500" dirty="0">
                <a:latin typeface="Times New Roman" panose="02020603050405020304" pitchFamily="18" charset="0"/>
                <a:cs typeface="Times New Roman" panose="02020603050405020304" pitchFamily="18" charset="0"/>
              </a:rPr>
              <a:t>Conclusion</a:t>
            </a:r>
          </a:p>
          <a:p>
            <a:endParaRPr lang="en-IN" dirty="0"/>
          </a:p>
          <a:p>
            <a:endParaRPr lang="en-IN" dirty="0"/>
          </a:p>
          <a:p>
            <a:endParaRPr lang="en-IN" dirty="0"/>
          </a:p>
        </p:txBody>
      </p:sp>
      <p:pic>
        <p:nvPicPr>
          <p:cNvPr id="9" name="Picture 8">
            <a:extLst>
              <a:ext uri="{FF2B5EF4-FFF2-40B4-BE49-F238E27FC236}">
                <a16:creationId xmlns:a16="http://schemas.microsoft.com/office/drawing/2014/main" id="{F744ECBE-D949-59CB-A044-FF0CE9FA2835}"/>
              </a:ext>
            </a:extLst>
          </p:cNvPr>
          <p:cNvPicPr>
            <a:picLocks noChangeAspect="1"/>
          </p:cNvPicPr>
          <p:nvPr/>
        </p:nvPicPr>
        <p:blipFill>
          <a:blip r:embed="rId2"/>
          <a:stretch>
            <a:fillRect/>
          </a:stretch>
        </p:blipFill>
        <p:spPr>
          <a:xfrm>
            <a:off x="7680587" y="1484768"/>
            <a:ext cx="3743779" cy="4787055"/>
          </a:xfrm>
          <a:prstGeom prst="rect">
            <a:avLst/>
          </a:prstGeom>
        </p:spPr>
      </p:pic>
    </p:spTree>
    <p:extLst>
      <p:ext uri="{BB962C8B-B14F-4D97-AF65-F5344CB8AC3E}">
        <p14:creationId xmlns:p14="http://schemas.microsoft.com/office/powerpoint/2010/main" val="12865767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261938"/>
            <a:ext cx="10772775" cy="1266825"/>
          </a:xfrm>
        </p:spPr>
        <p:txBody>
          <a:bodyPr/>
          <a:lstStyle/>
          <a:p>
            <a:pPr algn="ctr"/>
            <a:r>
              <a:rPr lang="en-US" b="1" dirty="0">
                <a:solidFill>
                  <a:schemeClr val="tx1"/>
                </a:solidFill>
                <a:latin typeface="Times New Roman" panose="02020603050405020304" pitchFamily="18" charset="0"/>
                <a:cs typeface="Times New Roman" panose="02020603050405020304" pitchFamily="18" charset="0"/>
              </a:rPr>
              <a:t>          Introduction </a:t>
            </a:r>
          </a:p>
        </p:txBody>
      </p:sp>
      <p:sp>
        <p:nvSpPr>
          <p:cNvPr id="3" name="Content Placeholder 2"/>
          <p:cNvSpPr>
            <a:spLocks noGrp="1"/>
          </p:cNvSpPr>
          <p:nvPr>
            <p:ph idx="4294967295"/>
          </p:nvPr>
        </p:nvSpPr>
        <p:spPr>
          <a:xfrm>
            <a:off x="1381125" y="1938893"/>
            <a:ext cx="9534526" cy="3623707"/>
          </a:xfrm>
        </p:spPr>
        <p:txBody>
          <a:bodyPr>
            <a:normAutofit/>
          </a:bodyPr>
          <a:lstStyle/>
          <a:p>
            <a:pPr marL="0" indent="0" algn="just">
              <a:buNone/>
            </a:pPr>
            <a:r>
              <a:rPr lang="en-US" sz="2500" b="1" dirty="0" err="1">
                <a:latin typeface="Times New Roman" panose="02020603050405020304" pitchFamily="18" charset="0"/>
                <a:cs typeface="Times New Roman" panose="02020603050405020304" pitchFamily="18" charset="0"/>
              </a:rPr>
              <a:t>AgroBoost</a:t>
            </a:r>
            <a:r>
              <a:rPr lang="en-US" sz="2500" b="1" dirty="0">
                <a:latin typeface="Times New Roman" panose="02020603050405020304" pitchFamily="18" charset="0"/>
                <a:cs typeface="Times New Roman" panose="02020603050405020304" pitchFamily="18" charset="0"/>
              </a:rPr>
              <a:t>-Sai </a:t>
            </a:r>
            <a:r>
              <a:rPr lang="en-US" sz="2500" b="1" dirty="0" err="1">
                <a:latin typeface="Times New Roman" panose="02020603050405020304" pitchFamily="18" charset="0"/>
                <a:cs typeface="Times New Roman" panose="02020603050405020304" pitchFamily="18" charset="0"/>
              </a:rPr>
              <a:t>Agro</a:t>
            </a:r>
            <a:r>
              <a:rPr lang="en-US" sz="2500" b="1" dirty="0">
                <a:latin typeface="Times New Roman" panose="02020603050405020304" pitchFamily="18" charset="0"/>
                <a:cs typeface="Times New Roman" panose="02020603050405020304" pitchFamily="18" charset="0"/>
              </a:rPr>
              <a:t> Fertilizers </a:t>
            </a:r>
            <a:r>
              <a:rPr lang="en-US" sz="2500" dirty="0">
                <a:latin typeface="Times New Roman" panose="02020603050405020304" pitchFamily="18" charset="0"/>
                <a:cs typeface="Times New Roman" panose="02020603050405020304" pitchFamily="18" charset="0"/>
              </a:rPr>
              <a:t>is a web-based e-commerce platform developed for a client to manage and streamline agricultural product sales. The system allows the admin to add, update, and delete product details, as well as manage customer information and orders. It offers a user-friendly interface for customers to browse products and place orders efficiently. The platform centralizes inventory, billing, and user management, helping reduce manual effort and improve accuracy. Designed for scalability and real-world usability, </a:t>
            </a:r>
            <a:r>
              <a:rPr lang="en-US" sz="2500" dirty="0" err="1">
                <a:latin typeface="Times New Roman" panose="02020603050405020304" pitchFamily="18" charset="0"/>
                <a:cs typeface="Times New Roman" panose="02020603050405020304" pitchFamily="18" charset="0"/>
              </a:rPr>
              <a:t>AgroBoost</a:t>
            </a:r>
            <a:r>
              <a:rPr lang="en-US" sz="2500" dirty="0">
                <a:latin typeface="Times New Roman" panose="02020603050405020304" pitchFamily="18" charset="0"/>
                <a:cs typeface="Times New Roman" panose="02020603050405020304" pitchFamily="18" charset="0"/>
              </a:rPr>
              <a:t> supports digital transformation in the agricultural sector.</a:t>
            </a:r>
            <a:r>
              <a:rPr lang="en-IN" sz="25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25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181618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 name="Image 0" descr="preencoded.png">
            <a:extLst>
              <a:ext uri="{FF2B5EF4-FFF2-40B4-BE49-F238E27FC236}">
                <a16:creationId xmlns:a16="http://schemas.microsoft.com/office/drawing/2014/main" id="{DE438EB8-94ED-0D4B-704F-1141A77822F4}"/>
              </a:ext>
            </a:extLst>
          </p:cNvPr>
          <p:cNvPicPr>
            <a:picLocks noChangeAspect="1"/>
          </p:cNvPicPr>
          <p:nvPr/>
        </p:nvPicPr>
        <p:blipFill>
          <a:blip r:embed="rId2"/>
          <a:stretch>
            <a:fillRect/>
          </a:stretch>
        </p:blipFill>
        <p:spPr>
          <a:xfrm>
            <a:off x="0" y="-5507"/>
            <a:ext cx="12192000" cy="3014931"/>
          </a:xfrm>
          <a:prstGeom prst="rect">
            <a:avLst/>
          </a:prstGeom>
        </p:spPr>
      </p:pic>
      <p:sp>
        <p:nvSpPr>
          <p:cNvPr id="42" name="Text 0">
            <a:extLst>
              <a:ext uri="{FF2B5EF4-FFF2-40B4-BE49-F238E27FC236}">
                <a16:creationId xmlns:a16="http://schemas.microsoft.com/office/drawing/2014/main" id="{5CB3CB40-05DB-A100-EF0E-1F759050A3B1}"/>
              </a:ext>
            </a:extLst>
          </p:cNvPr>
          <p:cNvSpPr/>
          <p:nvPr/>
        </p:nvSpPr>
        <p:spPr>
          <a:xfrm>
            <a:off x="338614" y="3186529"/>
            <a:ext cx="9105186" cy="708779"/>
          </a:xfrm>
          <a:prstGeom prst="rect">
            <a:avLst/>
          </a:prstGeom>
          <a:noFill/>
          <a:ln/>
        </p:spPr>
        <p:txBody>
          <a:bodyPr wrap="none" lIns="0" tIns="0" rIns="0" bIns="0" rtlCol="0" anchor="t"/>
          <a:lstStyle/>
          <a:p>
            <a:pPr marL="0" indent="0" algn="l">
              <a:lnSpc>
                <a:spcPts val="5550"/>
              </a:lnSpc>
              <a:buNone/>
            </a:pPr>
            <a:r>
              <a:rPr lang="en-US" sz="4400" b="1" dirty="0">
                <a:solidFill>
                  <a:srgbClr val="0C0D0F"/>
                </a:solidFill>
                <a:latin typeface="Times New Roman" panose="02020603050405020304" pitchFamily="18" charset="0"/>
                <a:ea typeface="Inter" pitchFamily="34" charset="-122"/>
                <a:cs typeface="Times New Roman" panose="02020603050405020304" pitchFamily="18" charset="0"/>
              </a:rPr>
              <a:t>Objectives: Core Goals</a:t>
            </a:r>
            <a:endParaRPr lang="en-US" sz="4400" b="1" dirty="0">
              <a:latin typeface="Times New Roman" panose="02020603050405020304" pitchFamily="18" charset="0"/>
              <a:cs typeface="Times New Roman" panose="02020603050405020304" pitchFamily="18" charset="0"/>
            </a:endParaRPr>
          </a:p>
        </p:txBody>
      </p:sp>
      <p:sp>
        <p:nvSpPr>
          <p:cNvPr id="43" name="Text 1">
            <a:extLst>
              <a:ext uri="{FF2B5EF4-FFF2-40B4-BE49-F238E27FC236}">
                <a16:creationId xmlns:a16="http://schemas.microsoft.com/office/drawing/2014/main" id="{4AFA9E1F-6499-ABF1-EB1B-C9FCF0F2E5D2}"/>
              </a:ext>
            </a:extLst>
          </p:cNvPr>
          <p:cNvSpPr/>
          <p:nvPr/>
        </p:nvSpPr>
        <p:spPr>
          <a:xfrm>
            <a:off x="338614" y="3861910"/>
            <a:ext cx="13042821" cy="362903"/>
          </a:xfrm>
          <a:prstGeom prst="rect">
            <a:avLst/>
          </a:prstGeom>
          <a:noFill/>
          <a:ln/>
        </p:spPr>
        <p:txBody>
          <a:bodyPr wrap="none" lIns="0" tIns="0" rIns="0" bIns="0" rtlCol="0" anchor="t"/>
          <a:lstStyle/>
          <a:p>
            <a:pPr marL="0" indent="0" algn="l">
              <a:lnSpc>
                <a:spcPts val="2850"/>
              </a:lnSpc>
              <a:buNone/>
            </a:pPr>
            <a:r>
              <a:rPr lang="en-US" sz="2000" dirty="0">
                <a:latin typeface="Times New Roman" panose="02020603050405020304" pitchFamily="18" charset="0"/>
                <a:ea typeface="Manrope" pitchFamily="34" charset="-122"/>
                <a:cs typeface="Times New Roman" panose="02020603050405020304" pitchFamily="18" charset="0"/>
              </a:rPr>
              <a:t>Our platform aims to enhance agricultural sales efficiency.</a:t>
            </a:r>
            <a:endParaRPr lang="en-US" sz="2000" dirty="0">
              <a:latin typeface="Times New Roman" panose="02020603050405020304" pitchFamily="18" charset="0"/>
              <a:cs typeface="Times New Roman" panose="02020603050405020304" pitchFamily="18" charset="0"/>
            </a:endParaRPr>
          </a:p>
        </p:txBody>
      </p:sp>
      <p:sp>
        <p:nvSpPr>
          <p:cNvPr id="44" name="Shape 2">
            <a:extLst>
              <a:ext uri="{FF2B5EF4-FFF2-40B4-BE49-F238E27FC236}">
                <a16:creationId xmlns:a16="http://schemas.microsoft.com/office/drawing/2014/main" id="{723D276E-D299-0BA9-F9C3-6BCF574B36ED}"/>
              </a:ext>
            </a:extLst>
          </p:cNvPr>
          <p:cNvSpPr/>
          <p:nvPr/>
        </p:nvSpPr>
        <p:spPr>
          <a:xfrm>
            <a:off x="195295" y="4650888"/>
            <a:ext cx="510302" cy="510302"/>
          </a:xfrm>
          <a:prstGeom prst="roundRect">
            <a:avLst>
              <a:gd name="adj" fmla="val 40005"/>
            </a:avLst>
          </a:prstGeom>
          <a:solidFill>
            <a:srgbClr val="FFFFFF"/>
          </a:solidFill>
          <a:ln w="7620">
            <a:solidFill>
              <a:srgbClr val="FF7047"/>
            </a:solidFill>
            <a:prstDash val="solid"/>
          </a:ln>
        </p:spPr>
      </p:sp>
      <p:pic>
        <p:nvPicPr>
          <p:cNvPr id="45" name="Image 1" descr="preencoded.png">
            <a:extLst>
              <a:ext uri="{FF2B5EF4-FFF2-40B4-BE49-F238E27FC236}">
                <a16:creationId xmlns:a16="http://schemas.microsoft.com/office/drawing/2014/main" id="{5D9A681D-9B07-485B-5D8A-081A5C4CD065}"/>
              </a:ext>
            </a:extLst>
          </p:cNvPr>
          <p:cNvPicPr>
            <a:picLocks noChangeAspect="1"/>
          </p:cNvPicPr>
          <p:nvPr/>
        </p:nvPicPr>
        <p:blipFill>
          <a:blip r:embed="rId3"/>
          <a:stretch>
            <a:fillRect/>
          </a:stretch>
        </p:blipFill>
        <p:spPr>
          <a:xfrm>
            <a:off x="298226" y="4707739"/>
            <a:ext cx="340162" cy="425291"/>
          </a:xfrm>
          <a:prstGeom prst="rect">
            <a:avLst/>
          </a:prstGeom>
        </p:spPr>
      </p:pic>
      <p:sp>
        <p:nvSpPr>
          <p:cNvPr id="46" name="Text 3">
            <a:extLst>
              <a:ext uri="{FF2B5EF4-FFF2-40B4-BE49-F238E27FC236}">
                <a16:creationId xmlns:a16="http://schemas.microsoft.com/office/drawing/2014/main" id="{6CA7BD1D-DFA4-948C-EDF0-ABC89BD42763}"/>
              </a:ext>
            </a:extLst>
          </p:cNvPr>
          <p:cNvSpPr/>
          <p:nvPr/>
        </p:nvSpPr>
        <p:spPr>
          <a:xfrm>
            <a:off x="808528" y="4688000"/>
            <a:ext cx="4826675" cy="354330"/>
          </a:xfrm>
          <a:prstGeom prst="rect">
            <a:avLst/>
          </a:prstGeom>
          <a:noFill/>
          <a:ln/>
        </p:spPr>
        <p:txBody>
          <a:bodyPr wrap="none" lIns="0" tIns="0" rIns="0" bIns="0" rtlCol="0" anchor="t"/>
          <a:lstStyle/>
          <a:p>
            <a:pPr marL="0" indent="0" algn="l">
              <a:lnSpc>
                <a:spcPts val="2750"/>
              </a:lnSpc>
              <a:buNone/>
            </a:pPr>
            <a:r>
              <a:rPr lang="en-US" sz="2400" b="1" dirty="0">
                <a:latin typeface="Times New Roman" panose="02020603050405020304" pitchFamily="18" charset="0"/>
                <a:ea typeface="Inter" pitchFamily="34" charset="-122"/>
                <a:cs typeface="Times New Roman" panose="02020603050405020304" pitchFamily="18" charset="0"/>
              </a:rPr>
              <a:t>Order and Transaction Management</a:t>
            </a:r>
            <a:endParaRPr lang="en-US" sz="2400" b="1" dirty="0">
              <a:latin typeface="Times New Roman" panose="02020603050405020304" pitchFamily="18" charset="0"/>
              <a:cs typeface="Times New Roman" panose="02020603050405020304" pitchFamily="18" charset="0"/>
            </a:endParaRPr>
          </a:p>
        </p:txBody>
      </p:sp>
      <p:sp>
        <p:nvSpPr>
          <p:cNvPr id="47" name="Text 4">
            <a:extLst>
              <a:ext uri="{FF2B5EF4-FFF2-40B4-BE49-F238E27FC236}">
                <a16:creationId xmlns:a16="http://schemas.microsoft.com/office/drawing/2014/main" id="{1FBFC7A8-EFC6-D726-8B9D-89499304F624}"/>
              </a:ext>
            </a:extLst>
          </p:cNvPr>
          <p:cNvSpPr/>
          <p:nvPr/>
        </p:nvSpPr>
        <p:spPr>
          <a:xfrm>
            <a:off x="832382" y="4979738"/>
            <a:ext cx="5642610" cy="362903"/>
          </a:xfrm>
          <a:prstGeom prst="rect">
            <a:avLst/>
          </a:prstGeom>
          <a:noFill/>
          <a:ln/>
        </p:spPr>
        <p:txBody>
          <a:bodyPr wrap="none" lIns="0" tIns="0" rIns="0" bIns="0" rtlCol="0" anchor="t"/>
          <a:lstStyle/>
          <a:p>
            <a:pPr marL="0" indent="0" algn="l">
              <a:lnSpc>
                <a:spcPts val="2850"/>
              </a:lnSpc>
              <a:buNone/>
            </a:pPr>
            <a:r>
              <a:rPr lang="en-US" sz="2000" dirty="0">
                <a:latin typeface="Times New Roman" panose="02020603050405020304" pitchFamily="18" charset="0"/>
                <a:ea typeface="Manrope" pitchFamily="34" charset="-122"/>
                <a:cs typeface="Times New Roman" panose="02020603050405020304" pitchFamily="18" charset="0"/>
              </a:rPr>
              <a:t>Streamlines order processing.</a:t>
            </a:r>
            <a:endParaRPr lang="en-US" sz="2000" dirty="0">
              <a:latin typeface="Times New Roman" panose="02020603050405020304" pitchFamily="18" charset="0"/>
              <a:cs typeface="Times New Roman" panose="02020603050405020304" pitchFamily="18" charset="0"/>
            </a:endParaRPr>
          </a:p>
        </p:txBody>
      </p:sp>
      <p:sp>
        <p:nvSpPr>
          <p:cNvPr id="48" name="Shape 5">
            <a:extLst>
              <a:ext uri="{FF2B5EF4-FFF2-40B4-BE49-F238E27FC236}">
                <a16:creationId xmlns:a16="http://schemas.microsoft.com/office/drawing/2014/main" id="{67A248A5-ED54-1E49-8F5A-529A96A6146F}"/>
              </a:ext>
            </a:extLst>
          </p:cNvPr>
          <p:cNvSpPr/>
          <p:nvPr/>
        </p:nvSpPr>
        <p:spPr>
          <a:xfrm>
            <a:off x="7346857" y="4692300"/>
            <a:ext cx="510302" cy="510302"/>
          </a:xfrm>
          <a:prstGeom prst="roundRect">
            <a:avLst>
              <a:gd name="adj" fmla="val 40005"/>
            </a:avLst>
          </a:prstGeom>
          <a:solidFill>
            <a:srgbClr val="FFFFFF"/>
          </a:solidFill>
          <a:ln w="7620">
            <a:solidFill>
              <a:srgbClr val="FF7047"/>
            </a:solidFill>
            <a:prstDash val="solid"/>
          </a:ln>
        </p:spPr>
      </p:sp>
      <p:pic>
        <p:nvPicPr>
          <p:cNvPr id="49" name="Image 2" descr="preencoded.png">
            <a:extLst>
              <a:ext uri="{FF2B5EF4-FFF2-40B4-BE49-F238E27FC236}">
                <a16:creationId xmlns:a16="http://schemas.microsoft.com/office/drawing/2014/main" id="{4453D432-8C87-5EC7-7996-0025A82061CE}"/>
              </a:ext>
            </a:extLst>
          </p:cNvPr>
          <p:cNvPicPr>
            <a:picLocks noChangeAspect="1"/>
          </p:cNvPicPr>
          <p:nvPr/>
        </p:nvPicPr>
        <p:blipFill>
          <a:blip r:embed="rId4"/>
          <a:stretch>
            <a:fillRect/>
          </a:stretch>
        </p:blipFill>
        <p:spPr>
          <a:xfrm>
            <a:off x="7440439" y="4734805"/>
            <a:ext cx="340162" cy="425291"/>
          </a:xfrm>
          <a:prstGeom prst="rect">
            <a:avLst/>
          </a:prstGeom>
        </p:spPr>
      </p:pic>
      <p:sp>
        <p:nvSpPr>
          <p:cNvPr id="50" name="Text 6">
            <a:extLst>
              <a:ext uri="{FF2B5EF4-FFF2-40B4-BE49-F238E27FC236}">
                <a16:creationId xmlns:a16="http://schemas.microsoft.com/office/drawing/2014/main" id="{CEEBB304-77B5-3038-1530-C2E1B39EF1E7}"/>
              </a:ext>
            </a:extLst>
          </p:cNvPr>
          <p:cNvSpPr/>
          <p:nvPr/>
        </p:nvSpPr>
        <p:spPr>
          <a:xfrm>
            <a:off x="7955397" y="4722969"/>
            <a:ext cx="3226832" cy="354330"/>
          </a:xfrm>
          <a:prstGeom prst="rect">
            <a:avLst/>
          </a:prstGeom>
          <a:noFill/>
          <a:ln/>
        </p:spPr>
        <p:txBody>
          <a:bodyPr wrap="none" lIns="0" tIns="0" rIns="0" bIns="0" rtlCol="0" anchor="t"/>
          <a:lstStyle/>
          <a:p>
            <a:pPr marL="0" indent="0" algn="l">
              <a:lnSpc>
                <a:spcPts val="2750"/>
              </a:lnSpc>
              <a:buNone/>
            </a:pPr>
            <a:r>
              <a:rPr lang="en-US" sz="2400" b="1" dirty="0">
                <a:latin typeface="Times New Roman" panose="02020603050405020304" pitchFamily="18" charset="0"/>
                <a:ea typeface="Inter" pitchFamily="34" charset="-122"/>
                <a:cs typeface="Times New Roman" panose="02020603050405020304" pitchFamily="18" charset="0"/>
              </a:rPr>
              <a:t>Role-based Dashboards</a:t>
            </a:r>
            <a:endParaRPr lang="en-US" sz="2400" b="1" dirty="0">
              <a:latin typeface="Times New Roman" panose="02020603050405020304" pitchFamily="18" charset="0"/>
              <a:cs typeface="Times New Roman" panose="02020603050405020304" pitchFamily="18" charset="0"/>
            </a:endParaRPr>
          </a:p>
        </p:txBody>
      </p:sp>
      <p:sp>
        <p:nvSpPr>
          <p:cNvPr id="51" name="Text 7">
            <a:extLst>
              <a:ext uri="{FF2B5EF4-FFF2-40B4-BE49-F238E27FC236}">
                <a16:creationId xmlns:a16="http://schemas.microsoft.com/office/drawing/2014/main" id="{86235C40-11EB-644D-CAAF-90D31D98353E}"/>
              </a:ext>
            </a:extLst>
          </p:cNvPr>
          <p:cNvSpPr/>
          <p:nvPr/>
        </p:nvSpPr>
        <p:spPr>
          <a:xfrm>
            <a:off x="7921439" y="4984644"/>
            <a:ext cx="5642610" cy="362903"/>
          </a:xfrm>
          <a:prstGeom prst="rect">
            <a:avLst/>
          </a:prstGeom>
          <a:noFill/>
          <a:ln/>
        </p:spPr>
        <p:txBody>
          <a:bodyPr wrap="none" lIns="0" tIns="0" rIns="0" bIns="0" rtlCol="0" anchor="t"/>
          <a:lstStyle/>
          <a:p>
            <a:pPr marL="0" indent="0" algn="l">
              <a:lnSpc>
                <a:spcPts val="2850"/>
              </a:lnSpc>
              <a:buNone/>
            </a:pPr>
            <a:r>
              <a:rPr lang="en-US" sz="2000" dirty="0">
                <a:latin typeface="Times New Roman" panose="02020603050405020304" pitchFamily="18" charset="0"/>
                <a:ea typeface="Manrope" pitchFamily="34" charset="-122"/>
                <a:cs typeface="Times New Roman" panose="02020603050405020304" pitchFamily="18" charset="0"/>
              </a:rPr>
              <a:t>Provides tailored views.</a:t>
            </a:r>
            <a:endParaRPr lang="en-US" sz="2000" dirty="0">
              <a:latin typeface="Times New Roman" panose="02020603050405020304" pitchFamily="18" charset="0"/>
              <a:cs typeface="Times New Roman" panose="02020603050405020304" pitchFamily="18" charset="0"/>
            </a:endParaRPr>
          </a:p>
        </p:txBody>
      </p:sp>
      <p:sp>
        <p:nvSpPr>
          <p:cNvPr id="52" name="Shape 8">
            <a:extLst>
              <a:ext uri="{FF2B5EF4-FFF2-40B4-BE49-F238E27FC236}">
                <a16:creationId xmlns:a16="http://schemas.microsoft.com/office/drawing/2014/main" id="{803FA068-8D15-B66D-3C89-B87E970FFA71}"/>
              </a:ext>
            </a:extLst>
          </p:cNvPr>
          <p:cNvSpPr/>
          <p:nvPr/>
        </p:nvSpPr>
        <p:spPr>
          <a:xfrm>
            <a:off x="195295" y="5859848"/>
            <a:ext cx="510302" cy="510302"/>
          </a:xfrm>
          <a:prstGeom prst="roundRect">
            <a:avLst>
              <a:gd name="adj" fmla="val 40005"/>
            </a:avLst>
          </a:prstGeom>
          <a:solidFill>
            <a:srgbClr val="FFFFFF"/>
          </a:solidFill>
          <a:ln w="7620">
            <a:solidFill>
              <a:srgbClr val="FF7047"/>
            </a:solidFill>
            <a:prstDash val="solid"/>
          </a:ln>
        </p:spPr>
      </p:sp>
      <p:pic>
        <p:nvPicPr>
          <p:cNvPr id="53" name="Image 3" descr="preencoded.png">
            <a:extLst>
              <a:ext uri="{FF2B5EF4-FFF2-40B4-BE49-F238E27FC236}">
                <a16:creationId xmlns:a16="http://schemas.microsoft.com/office/drawing/2014/main" id="{CE3326D4-6D0D-9163-5810-C0B3D9453D2D}"/>
              </a:ext>
            </a:extLst>
          </p:cNvPr>
          <p:cNvPicPr>
            <a:picLocks noChangeAspect="1"/>
          </p:cNvPicPr>
          <p:nvPr/>
        </p:nvPicPr>
        <p:blipFill>
          <a:blip r:embed="rId5"/>
          <a:stretch>
            <a:fillRect/>
          </a:stretch>
        </p:blipFill>
        <p:spPr>
          <a:xfrm>
            <a:off x="286358" y="5874922"/>
            <a:ext cx="340162" cy="425291"/>
          </a:xfrm>
          <a:prstGeom prst="rect">
            <a:avLst/>
          </a:prstGeom>
        </p:spPr>
      </p:pic>
      <p:sp>
        <p:nvSpPr>
          <p:cNvPr id="54" name="Text 9">
            <a:extLst>
              <a:ext uri="{FF2B5EF4-FFF2-40B4-BE49-F238E27FC236}">
                <a16:creationId xmlns:a16="http://schemas.microsoft.com/office/drawing/2014/main" id="{9AC81615-0841-F283-7F7F-EC85C515A180}"/>
              </a:ext>
            </a:extLst>
          </p:cNvPr>
          <p:cNvSpPr/>
          <p:nvPr/>
        </p:nvSpPr>
        <p:spPr>
          <a:xfrm>
            <a:off x="808528" y="5764893"/>
            <a:ext cx="3360301" cy="354330"/>
          </a:xfrm>
          <a:prstGeom prst="rect">
            <a:avLst/>
          </a:prstGeom>
          <a:noFill/>
          <a:ln/>
        </p:spPr>
        <p:txBody>
          <a:bodyPr wrap="none" lIns="0" tIns="0" rIns="0" bIns="0" rtlCol="0" anchor="t"/>
          <a:lstStyle/>
          <a:p>
            <a:pPr marL="0" indent="0" algn="l">
              <a:lnSpc>
                <a:spcPts val="2750"/>
              </a:lnSpc>
              <a:buNone/>
            </a:pPr>
            <a:r>
              <a:rPr lang="en-US" sz="2200" b="1" dirty="0">
                <a:latin typeface="Times New Roman" panose="02020603050405020304" pitchFamily="18" charset="0"/>
                <a:ea typeface="Inter" pitchFamily="34" charset="-122"/>
                <a:cs typeface="Times New Roman" panose="02020603050405020304" pitchFamily="18" charset="0"/>
              </a:rPr>
              <a:t>Centralized Management</a:t>
            </a:r>
            <a:endParaRPr lang="en-US" sz="2200" b="1" dirty="0">
              <a:latin typeface="Times New Roman" panose="02020603050405020304" pitchFamily="18" charset="0"/>
              <a:cs typeface="Times New Roman" panose="02020603050405020304" pitchFamily="18" charset="0"/>
            </a:endParaRPr>
          </a:p>
        </p:txBody>
      </p:sp>
      <p:sp>
        <p:nvSpPr>
          <p:cNvPr id="55" name="Text 10">
            <a:extLst>
              <a:ext uri="{FF2B5EF4-FFF2-40B4-BE49-F238E27FC236}">
                <a16:creationId xmlns:a16="http://schemas.microsoft.com/office/drawing/2014/main" id="{EDA7B83E-2727-E34C-C15F-E77D6AB644E9}"/>
              </a:ext>
            </a:extLst>
          </p:cNvPr>
          <p:cNvSpPr/>
          <p:nvPr/>
        </p:nvSpPr>
        <p:spPr>
          <a:xfrm>
            <a:off x="832382" y="6043373"/>
            <a:ext cx="5642610" cy="362903"/>
          </a:xfrm>
          <a:prstGeom prst="rect">
            <a:avLst/>
          </a:prstGeom>
          <a:noFill/>
          <a:ln/>
        </p:spPr>
        <p:txBody>
          <a:bodyPr wrap="none" lIns="0" tIns="0" rIns="0" bIns="0" rtlCol="0" anchor="t"/>
          <a:lstStyle/>
          <a:p>
            <a:pPr marL="0" indent="0" algn="l">
              <a:lnSpc>
                <a:spcPts val="2850"/>
              </a:lnSpc>
              <a:buNone/>
            </a:pPr>
            <a:r>
              <a:rPr lang="en-US" sz="2000" dirty="0">
                <a:latin typeface="Times New Roman" panose="02020603050405020304" pitchFamily="18" charset="0"/>
                <a:ea typeface="Manrope" pitchFamily="34" charset="-122"/>
                <a:cs typeface="Times New Roman" panose="02020603050405020304" pitchFamily="18" charset="0"/>
              </a:rPr>
              <a:t>Integrates inventory, billing, and users.</a:t>
            </a:r>
            <a:endParaRPr lang="en-US" sz="2000" dirty="0">
              <a:latin typeface="Times New Roman" panose="02020603050405020304" pitchFamily="18" charset="0"/>
              <a:cs typeface="Times New Roman" panose="02020603050405020304" pitchFamily="18" charset="0"/>
            </a:endParaRPr>
          </a:p>
        </p:txBody>
      </p:sp>
      <p:sp>
        <p:nvSpPr>
          <p:cNvPr id="56" name="Shape 11">
            <a:extLst>
              <a:ext uri="{FF2B5EF4-FFF2-40B4-BE49-F238E27FC236}">
                <a16:creationId xmlns:a16="http://schemas.microsoft.com/office/drawing/2014/main" id="{5AC59674-6937-8D44-D34E-F1A98E516E04}"/>
              </a:ext>
            </a:extLst>
          </p:cNvPr>
          <p:cNvSpPr/>
          <p:nvPr/>
        </p:nvSpPr>
        <p:spPr>
          <a:xfrm>
            <a:off x="7326067" y="5902353"/>
            <a:ext cx="510302" cy="510302"/>
          </a:xfrm>
          <a:prstGeom prst="roundRect">
            <a:avLst>
              <a:gd name="adj" fmla="val 40005"/>
            </a:avLst>
          </a:prstGeom>
          <a:solidFill>
            <a:srgbClr val="FFFFFF"/>
          </a:solidFill>
          <a:ln w="7620">
            <a:solidFill>
              <a:srgbClr val="FF7047"/>
            </a:solidFill>
            <a:prstDash val="solid"/>
          </a:ln>
        </p:spPr>
      </p:sp>
      <p:pic>
        <p:nvPicPr>
          <p:cNvPr id="57" name="Image 4" descr="preencoded.png">
            <a:extLst>
              <a:ext uri="{FF2B5EF4-FFF2-40B4-BE49-F238E27FC236}">
                <a16:creationId xmlns:a16="http://schemas.microsoft.com/office/drawing/2014/main" id="{B902ABF9-4B7A-83AC-CCDB-F91960C6183C}"/>
              </a:ext>
            </a:extLst>
          </p:cNvPr>
          <p:cNvPicPr>
            <a:picLocks noChangeAspect="1"/>
          </p:cNvPicPr>
          <p:nvPr/>
        </p:nvPicPr>
        <p:blipFill>
          <a:blip r:embed="rId6"/>
          <a:stretch>
            <a:fillRect/>
          </a:stretch>
        </p:blipFill>
        <p:spPr>
          <a:xfrm>
            <a:off x="7431927" y="5980985"/>
            <a:ext cx="340162" cy="425291"/>
          </a:xfrm>
          <a:prstGeom prst="rect">
            <a:avLst/>
          </a:prstGeom>
        </p:spPr>
      </p:pic>
      <p:sp>
        <p:nvSpPr>
          <p:cNvPr id="58" name="Text 12">
            <a:extLst>
              <a:ext uri="{FF2B5EF4-FFF2-40B4-BE49-F238E27FC236}">
                <a16:creationId xmlns:a16="http://schemas.microsoft.com/office/drawing/2014/main" id="{CC1C6A87-3A72-91FD-D561-A9CDC8DF6BD2}"/>
              </a:ext>
            </a:extLst>
          </p:cNvPr>
          <p:cNvSpPr/>
          <p:nvPr/>
        </p:nvSpPr>
        <p:spPr>
          <a:xfrm>
            <a:off x="8027299" y="5859848"/>
            <a:ext cx="3523059" cy="354330"/>
          </a:xfrm>
          <a:prstGeom prst="rect">
            <a:avLst/>
          </a:prstGeom>
          <a:noFill/>
          <a:ln/>
        </p:spPr>
        <p:txBody>
          <a:bodyPr wrap="none" lIns="0" tIns="0" rIns="0" bIns="0" rtlCol="0" anchor="t"/>
          <a:lstStyle/>
          <a:p>
            <a:pPr marL="0" indent="0" algn="l">
              <a:lnSpc>
                <a:spcPts val="2750"/>
              </a:lnSpc>
              <a:buNone/>
            </a:pPr>
            <a:r>
              <a:rPr lang="en-US" sz="2400" b="1" dirty="0">
                <a:latin typeface="Times New Roman" panose="02020603050405020304" pitchFamily="18" charset="0"/>
                <a:ea typeface="Inter" pitchFamily="34" charset="-122"/>
                <a:cs typeface="Times New Roman" panose="02020603050405020304" pitchFamily="18" charset="0"/>
              </a:rPr>
              <a:t>Sales and Stock Reporting</a:t>
            </a:r>
            <a:endParaRPr lang="en-US" sz="2400" b="1" dirty="0">
              <a:latin typeface="Times New Roman" panose="02020603050405020304" pitchFamily="18" charset="0"/>
              <a:cs typeface="Times New Roman" panose="02020603050405020304" pitchFamily="18" charset="0"/>
            </a:endParaRPr>
          </a:p>
        </p:txBody>
      </p:sp>
      <p:sp>
        <p:nvSpPr>
          <p:cNvPr id="59" name="Text 13">
            <a:extLst>
              <a:ext uri="{FF2B5EF4-FFF2-40B4-BE49-F238E27FC236}">
                <a16:creationId xmlns:a16="http://schemas.microsoft.com/office/drawing/2014/main" id="{3E8A36ED-9F48-F8BC-F1BB-CC1D958933D9}"/>
              </a:ext>
            </a:extLst>
          </p:cNvPr>
          <p:cNvSpPr/>
          <p:nvPr/>
        </p:nvSpPr>
        <p:spPr>
          <a:xfrm>
            <a:off x="8027299" y="6157504"/>
            <a:ext cx="5642610" cy="362903"/>
          </a:xfrm>
          <a:prstGeom prst="rect">
            <a:avLst/>
          </a:prstGeom>
          <a:noFill/>
          <a:ln/>
        </p:spPr>
        <p:txBody>
          <a:bodyPr wrap="none" lIns="0" tIns="0" rIns="0" bIns="0" rtlCol="0" anchor="t"/>
          <a:lstStyle/>
          <a:p>
            <a:pPr marL="0" indent="0" algn="l">
              <a:lnSpc>
                <a:spcPts val="2850"/>
              </a:lnSpc>
              <a:buNone/>
            </a:pPr>
            <a:r>
              <a:rPr lang="en-US" sz="2000" dirty="0">
                <a:latin typeface="Times New Roman" panose="02020603050405020304" pitchFamily="18" charset="0"/>
                <a:ea typeface="Manrope" pitchFamily="34" charset="-122"/>
                <a:cs typeface="Times New Roman" panose="02020603050405020304" pitchFamily="18" charset="0"/>
              </a:rPr>
              <a:t>Generates insightful reports.</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792031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358F5160-D8EC-3CF5-45FB-2BEC824F20C0}"/>
              </a:ext>
            </a:extLst>
          </p:cNvPr>
          <p:cNvSpPr/>
          <p:nvPr/>
        </p:nvSpPr>
        <p:spPr>
          <a:xfrm>
            <a:off x="350449" y="624791"/>
            <a:ext cx="10836235" cy="708779"/>
          </a:xfrm>
          <a:prstGeom prst="rect">
            <a:avLst/>
          </a:prstGeom>
          <a:noFill/>
          <a:ln/>
        </p:spPr>
        <p:txBody>
          <a:bodyPr wrap="none" lIns="0" tIns="0" rIns="0" bIns="0" rtlCol="0" anchor="t"/>
          <a:lstStyle/>
          <a:p>
            <a:pPr marL="0" indent="0" algn="l">
              <a:lnSpc>
                <a:spcPts val="5550"/>
              </a:lnSpc>
              <a:buNone/>
            </a:pPr>
            <a:r>
              <a:rPr lang="en-US" sz="4400" b="1" dirty="0">
                <a:latin typeface="Times New Roman" panose="02020603050405020304" pitchFamily="18" charset="0"/>
                <a:ea typeface="Inter" pitchFamily="34" charset="-122"/>
                <a:cs typeface="Times New Roman" panose="02020603050405020304" pitchFamily="18" charset="0"/>
              </a:rPr>
              <a:t>System Modules: Admin and User Views</a:t>
            </a:r>
            <a:endParaRPr lang="en-US" sz="4400" b="1" dirty="0">
              <a:latin typeface="Times New Roman" panose="02020603050405020304" pitchFamily="18" charset="0"/>
              <a:cs typeface="Times New Roman" panose="02020603050405020304" pitchFamily="18" charset="0"/>
            </a:endParaRPr>
          </a:p>
        </p:txBody>
      </p:sp>
      <p:sp>
        <p:nvSpPr>
          <p:cNvPr id="3" name="Text 1">
            <a:extLst>
              <a:ext uri="{FF2B5EF4-FFF2-40B4-BE49-F238E27FC236}">
                <a16:creationId xmlns:a16="http://schemas.microsoft.com/office/drawing/2014/main" id="{8DD52F8A-4B6B-F188-0B9C-E1EE82C3AE88}"/>
              </a:ext>
            </a:extLst>
          </p:cNvPr>
          <p:cNvSpPr/>
          <p:nvPr/>
        </p:nvSpPr>
        <p:spPr>
          <a:xfrm>
            <a:off x="358068" y="1412865"/>
            <a:ext cx="13042821" cy="362903"/>
          </a:xfrm>
          <a:prstGeom prst="rect">
            <a:avLst/>
          </a:prstGeom>
          <a:noFill/>
          <a:ln/>
        </p:spPr>
        <p:txBody>
          <a:bodyPr wrap="none" lIns="0" tIns="0" rIns="0" bIns="0" rtlCol="0" anchor="t"/>
          <a:lstStyle/>
          <a:p>
            <a:pPr marL="0" indent="0" algn="l">
              <a:lnSpc>
                <a:spcPts val="2850"/>
              </a:lnSpc>
              <a:buNone/>
            </a:pPr>
            <a:r>
              <a:rPr lang="en-US" sz="2000" dirty="0">
                <a:latin typeface="Times New Roman" panose="02020603050405020304" pitchFamily="18" charset="0"/>
                <a:ea typeface="Manrope" pitchFamily="34" charset="-122"/>
                <a:cs typeface="Times New Roman" panose="02020603050405020304" pitchFamily="18" charset="0"/>
              </a:rPr>
              <a:t>AgroBoost operates through two distinct modules, each tailored to specific user roles.</a:t>
            </a:r>
            <a:endParaRPr lang="en-US" sz="2000" dirty="0">
              <a:latin typeface="Times New Roman" panose="02020603050405020304" pitchFamily="18" charset="0"/>
              <a:cs typeface="Times New Roman" panose="02020603050405020304" pitchFamily="18" charset="0"/>
            </a:endParaRPr>
          </a:p>
        </p:txBody>
      </p:sp>
      <p:sp>
        <p:nvSpPr>
          <p:cNvPr id="4" name="Text 2">
            <a:extLst>
              <a:ext uri="{FF2B5EF4-FFF2-40B4-BE49-F238E27FC236}">
                <a16:creationId xmlns:a16="http://schemas.microsoft.com/office/drawing/2014/main" id="{6D7FA087-5F61-2DCA-0B28-58EA2591F31C}"/>
              </a:ext>
            </a:extLst>
          </p:cNvPr>
          <p:cNvSpPr/>
          <p:nvPr/>
        </p:nvSpPr>
        <p:spPr>
          <a:xfrm>
            <a:off x="358068" y="2277736"/>
            <a:ext cx="2835235" cy="354330"/>
          </a:xfrm>
          <a:prstGeom prst="rect">
            <a:avLst/>
          </a:prstGeom>
          <a:noFill/>
          <a:ln/>
        </p:spPr>
        <p:txBody>
          <a:bodyPr wrap="none" lIns="0" tIns="0" rIns="0" bIns="0" rtlCol="0" anchor="t"/>
          <a:lstStyle/>
          <a:p>
            <a:pPr marL="0" indent="0" algn="l">
              <a:lnSpc>
                <a:spcPts val="2750"/>
              </a:lnSpc>
              <a:buNone/>
            </a:pPr>
            <a:r>
              <a:rPr lang="en-US" sz="2400" b="1" dirty="0">
                <a:latin typeface="Times New Roman" panose="02020603050405020304" pitchFamily="18" charset="0"/>
                <a:ea typeface="Inter" pitchFamily="34" charset="-122"/>
                <a:cs typeface="Times New Roman" panose="02020603050405020304" pitchFamily="18" charset="0"/>
              </a:rPr>
              <a:t>	Admin Module</a:t>
            </a:r>
            <a:endParaRPr lang="en-US" sz="2400" b="1" dirty="0">
              <a:latin typeface="Times New Roman" panose="02020603050405020304" pitchFamily="18" charset="0"/>
              <a:cs typeface="Times New Roman" panose="02020603050405020304" pitchFamily="18" charset="0"/>
            </a:endParaRPr>
          </a:p>
        </p:txBody>
      </p:sp>
      <p:sp>
        <p:nvSpPr>
          <p:cNvPr id="6" name="Text 4">
            <a:extLst>
              <a:ext uri="{FF2B5EF4-FFF2-40B4-BE49-F238E27FC236}">
                <a16:creationId xmlns:a16="http://schemas.microsoft.com/office/drawing/2014/main" id="{21E2BC8D-4718-5112-B83C-35786BFD0712}"/>
              </a:ext>
            </a:extLst>
          </p:cNvPr>
          <p:cNvSpPr/>
          <p:nvPr/>
        </p:nvSpPr>
        <p:spPr>
          <a:xfrm>
            <a:off x="350448" y="3700022"/>
            <a:ext cx="6244709" cy="362903"/>
          </a:xfrm>
          <a:prstGeom prst="rect">
            <a:avLst/>
          </a:prstGeom>
          <a:noFill/>
          <a:ln/>
        </p:spPr>
        <p:txBody>
          <a:bodyPr wrap="none" lIns="0" tIns="0" rIns="0" bIns="0" rtlCol="0" anchor="t"/>
          <a:lstStyle/>
          <a:p>
            <a:pPr marL="800100" lvl="1" indent="-342900">
              <a:lnSpc>
                <a:spcPts val="2850"/>
              </a:lnSpc>
              <a:buSzPct val="100000"/>
              <a:buChar char="•"/>
            </a:pPr>
            <a:r>
              <a:rPr lang="en-US" sz="2000" dirty="0">
                <a:latin typeface="Times New Roman" panose="02020603050405020304" pitchFamily="18" charset="0"/>
                <a:ea typeface="Manrope" pitchFamily="34" charset="-122"/>
                <a:cs typeface="Times New Roman" panose="02020603050405020304" pitchFamily="18" charset="0"/>
              </a:rPr>
              <a:t>Product management</a:t>
            </a:r>
            <a:endParaRPr lang="en-US" sz="2000" dirty="0">
              <a:latin typeface="Times New Roman" panose="02020603050405020304" pitchFamily="18" charset="0"/>
              <a:cs typeface="Times New Roman" panose="02020603050405020304" pitchFamily="18" charset="0"/>
            </a:endParaRPr>
          </a:p>
        </p:txBody>
      </p:sp>
      <p:sp>
        <p:nvSpPr>
          <p:cNvPr id="7" name="Text 5">
            <a:extLst>
              <a:ext uri="{FF2B5EF4-FFF2-40B4-BE49-F238E27FC236}">
                <a16:creationId xmlns:a16="http://schemas.microsoft.com/office/drawing/2014/main" id="{EECFE3BB-1455-680F-7591-8F21D7CD16A6}"/>
              </a:ext>
            </a:extLst>
          </p:cNvPr>
          <p:cNvSpPr/>
          <p:nvPr/>
        </p:nvSpPr>
        <p:spPr>
          <a:xfrm>
            <a:off x="358068" y="3180527"/>
            <a:ext cx="6244709" cy="362903"/>
          </a:xfrm>
          <a:prstGeom prst="rect">
            <a:avLst/>
          </a:prstGeom>
          <a:noFill/>
          <a:ln/>
        </p:spPr>
        <p:txBody>
          <a:bodyPr wrap="none" lIns="0" tIns="0" rIns="0" bIns="0" rtlCol="0" anchor="t"/>
          <a:lstStyle/>
          <a:p>
            <a:pPr marL="800100" lvl="1" indent="-342900">
              <a:lnSpc>
                <a:spcPts val="2850"/>
              </a:lnSpc>
              <a:buSzPct val="100000"/>
              <a:buChar char="•"/>
            </a:pPr>
            <a:r>
              <a:rPr lang="en-US" sz="2000" dirty="0">
                <a:latin typeface="Times New Roman" panose="02020603050405020304" pitchFamily="18" charset="0"/>
                <a:ea typeface="Manrope" pitchFamily="34" charset="-122"/>
                <a:cs typeface="Times New Roman" panose="02020603050405020304" pitchFamily="18" charset="0"/>
              </a:rPr>
              <a:t>User management</a:t>
            </a:r>
            <a:endParaRPr lang="en-US" sz="2000" dirty="0">
              <a:latin typeface="Times New Roman" panose="02020603050405020304" pitchFamily="18" charset="0"/>
              <a:cs typeface="Times New Roman" panose="02020603050405020304" pitchFamily="18" charset="0"/>
            </a:endParaRPr>
          </a:p>
        </p:txBody>
      </p:sp>
      <p:sp>
        <p:nvSpPr>
          <p:cNvPr id="8" name="Text 6">
            <a:extLst>
              <a:ext uri="{FF2B5EF4-FFF2-40B4-BE49-F238E27FC236}">
                <a16:creationId xmlns:a16="http://schemas.microsoft.com/office/drawing/2014/main" id="{9A5DE5E4-84DD-8872-4624-FEC13B5C3601}"/>
              </a:ext>
            </a:extLst>
          </p:cNvPr>
          <p:cNvSpPr/>
          <p:nvPr/>
        </p:nvSpPr>
        <p:spPr>
          <a:xfrm>
            <a:off x="358068" y="4193417"/>
            <a:ext cx="6244709" cy="362903"/>
          </a:xfrm>
          <a:prstGeom prst="rect">
            <a:avLst/>
          </a:prstGeom>
          <a:noFill/>
          <a:ln/>
        </p:spPr>
        <p:txBody>
          <a:bodyPr wrap="none" lIns="0" tIns="0" rIns="0" bIns="0" rtlCol="0" anchor="t"/>
          <a:lstStyle/>
          <a:p>
            <a:pPr marL="800100" lvl="1" indent="-342900">
              <a:lnSpc>
                <a:spcPts val="2850"/>
              </a:lnSpc>
              <a:buSzPct val="100000"/>
              <a:buChar char="•"/>
            </a:pPr>
            <a:r>
              <a:rPr lang="en-US" sz="2000" dirty="0">
                <a:latin typeface="Times New Roman" panose="02020603050405020304" pitchFamily="18" charset="0"/>
                <a:ea typeface="Manrope" pitchFamily="34" charset="-122"/>
                <a:cs typeface="Times New Roman" panose="02020603050405020304" pitchFamily="18" charset="0"/>
              </a:rPr>
              <a:t>Stock updates</a:t>
            </a:r>
            <a:endParaRPr lang="en-US" sz="2000" dirty="0">
              <a:latin typeface="Times New Roman" panose="02020603050405020304" pitchFamily="18" charset="0"/>
              <a:cs typeface="Times New Roman" panose="02020603050405020304" pitchFamily="18" charset="0"/>
            </a:endParaRPr>
          </a:p>
        </p:txBody>
      </p:sp>
      <p:sp>
        <p:nvSpPr>
          <p:cNvPr id="9" name="Text 7">
            <a:extLst>
              <a:ext uri="{FF2B5EF4-FFF2-40B4-BE49-F238E27FC236}">
                <a16:creationId xmlns:a16="http://schemas.microsoft.com/office/drawing/2014/main" id="{C6229A39-8CA3-1C5D-6A00-54E7226CE6F5}"/>
              </a:ext>
            </a:extLst>
          </p:cNvPr>
          <p:cNvSpPr/>
          <p:nvPr/>
        </p:nvSpPr>
        <p:spPr>
          <a:xfrm>
            <a:off x="350447" y="4686812"/>
            <a:ext cx="6244709" cy="362903"/>
          </a:xfrm>
          <a:prstGeom prst="rect">
            <a:avLst/>
          </a:prstGeom>
          <a:noFill/>
          <a:ln/>
        </p:spPr>
        <p:txBody>
          <a:bodyPr wrap="none" lIns="0" tIns="0" rIns="0" bIns="0" rtlCol="0" anchor="t"/>
          <a:lstStyle/>
          <a:p>
            <a:pPr marL="800100" lvl="1" indent="-342900">
              <a:lnSpc>
                <a:spcPts val="2850"/>
              </a:lnSpc>
              <a:buSzPct val="100000"/>
              <a:buChar char="•"/>
            </a:pPr>
            <a:r>
              <a:rPr lang="en-US" sz="2000" dirty="0">
                <a:latin typeface="Times New Roman" panose="02020603050405020304" pitchFamily="18" charset="0"/>
                <a:ea typeface="Manrope" pitchFamily="34" charset="-122"/>
                <a:cs typeface="Times New Roman" panose="02020603050405020304" pitchFamily="18" charset="0"/>
              </a:rPr>
              <a:t>Report viewing</a:t>
            </a:r>
            <a:endParaRPr lang="en-US" sz="2000" dirty="0">
              <a:latin typeface="Times New Roman" panose="02020603050405020304" pitchFamily="18" charset="0"/>
              <a:cs typeface="Times New Roman" panose="02020603050405020304" pitchFamily="18" charset="0"/>
            </a:endParaRPr>
          </a:p>
        </p:txBody>
      </p:sp>
      <p:sp>
        <p:nvSpPr>
          <p:cNvPr id="10" name="Text 8">
            <a:extLst>
              <a:ext uri="{FF2B5EF4-FFF2-40B4-BE49-F238E27FC236}">
                <a16:creationId xmlns:a16="http://schemas.microsoft.com/office/drawing/2014/main" id="{1D540805-641D-90B1-5B94-CC1B2AE1A990}"/>
              </a:ext>
            </a:extLst>
          </p:cNvPr>
          <p:cNvSpPr/>
          <p:nvPr/>
        </p:nvSpPr>
        <p:spPr>
          <a:xfrm>
            <a:off x="7156180" y="2317324"/>
            <a:ext cx="2835235" cy="354330"/>
          </a:xfrm>
          <a:prstGeom prst="rect">
            <a:avLst/>
          </a:prstGeom>
          <a:noFill/>
          <a:ln/>
        </p:spPr>
        <p:txBody>
          <a:bodyPr wrap="none" lIns="0" tIns="0" rIns="0" bIns="0" rtlCol="0" anchor="t"/>
          <a:lstStyle/>
          <a:p>
            <a:pPr marL="0" indent="0" algn="l">
              <a:lnSpc>
                <a:spcPts val="2750"/>
              </a:lnSpc>
              <a:buNone/>
            </a:pPr>
            <a:r>
              <a:rPr lang="en-US" sz="2400" b="1" dirty="0">
                <a:solidFill>
                  <a:srgbClr val="0C0D0F"/>
                </a:solidFill>
                <a:latin typeface="Times New Roman" panose="02020603050405020304" pitchFamily="18" charset="0"/>
                <a:ea typeface="Inter" pitchFamily="34" charset="-122"/>
                <a:cs typeface="Times New Roman" panose="02020603050405020304" pitchFamily="18" charset="0"/>
              </a:rPr>
              <a:t>User Module</a:t>
            </a:r>
            <a:endParaRPr lang="en-US" sz="2400" b="1" dirty="0">
              <a:latin typeface="Times New Roman" panose="02020603050405020304" pitchFamily="18" charset="0"/>
              <a:cs typeface="Times New Roman" panose="02020603050405020304" pitchFamily="18" charset="0"/>
            </a:endParaRPr>
          </a:p>
        </p:txBody>
      </p:sp>
      <p:sp>
        <p:nvSpPr>
          <p:cNvPr id="12" name="Text 10">
            <a:extLst>
              <a:ext uri="{FF2B5EF4-FFF2-40B4-BE49-F238E27FC236}">
                <a16:creationId xmlns:a16="http://schemas.microsoft.com/office/drawing/2014/main" id="{BEFD86AB-B243-2001-706D-BF6982C0D014}"/>
              </a:ext>
            </a:extLst>
          </p:cNvPr>
          <p:cNvSpPr/>
          <p:nvPr/>
        </p:nvSpPr>
        <p:spPr>
          <a:xfrm>
            <a:off x="7156179" y="3180526"/>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2000" dirty="0">
                <a:latin typeface="Times New Roman" panose="02020603050405020304" pitchFamily="18" charset="0"/>
                <a:ea typeface="Manrope" pitchFamily="34" charset="-122"/>
                <a:cs typeface="Times New Roman" panose="02020603050405020304" pitchFamily="18" charset="0"/>
              </a:rPr>
              <a:t>Registration/login</a:t>
            </a:r>
            <a:endParaRPr lang="en-US" sz="2000" dirty="0">
              <a:latin typeface="Times New Roman" panose="02020603050405020304" pitchFamily="18" charset="0"/>
              <a:cs typeface="Times New Roman" panose="02020603050405020304" pitchFamily="18" charset="0"/>
            </a:endParaRPr>
          </a:p>
        </p:txBody>
      </p:sp>
      <p:sp>
        <p:nvSpPr>
          <p:cNvPr id="13" name="Text 11">
            <a:extLst>
              <a:ext uri="{FF2B5EF4-FFF2-40B4-BE49-F238E27FC236}">
                <a16:creationId xmlns:a16="http://schemas.microsoft.com/office/drawing/2014/main" id="{01D0AEE2-9D8C-E7A1-3DBD-6067AEC4CB87}"/>
              </a:ext>
            </a:extLst>
          </p:cNvPr>
          <p:cNvSpPr/>
          <p:nvPr/>
        </p:nvSpPr>
        <p:spPr>
          <a:xfrm>
            <a:off x="7156179" y="3705085"/>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2000" dirty="0">
                <a:latin typeface="Times New Roman" panose="02020603050405020304" pitchFamily="18" charset="0"/>
                <a:ea typeface="Manrope" pitchFamily="34" charset="-122"/>
                <a:cs typeface="Times New Roman" panose="02020603050405020304" pitchFamily="18" charset="0"/>
              </a:rPr>
              <a:t>Product browsing</a:t>
            </a:r>
            <a:endParaRPr lang="en-US" sz="2000" dirty="0">
              <a:latin typeface="Times New Roman" panose="02020603050405020304" pitchFamily="18" charset="0"/>
              <a:cs typeface="Times New Roman" panose="02020603050405020304" pitchFamily="18" charset="0"/>
            </a:endParaRPr>
          </a:p>
        </p:txBody>
      </p:sp>
      <p:sp>
        <p:nvSpPr>
          <p:cNvPr id="14" name="Text 12">
            <a:extLst>
              <a:ext uri="{FF2B5EF4-FFF2-40B4-BE49-F238E27FC236}">
                <a16:creationId xmlns:a16="http://schemas.microsoft.com/office/drawing/2014/main" id="{96212C68-8981-26F6-995D-6B708C4E78FE}"/>
              </a:ext>
            </a:extLst>
          </p:cNvPr>
          <p:cNvSpPr/>
          <p:nvPr/>
        </p:nvSpPr>
        <p:spPr>
          <a:xfrm>
            <a:off x="7156178" y="4186347"/>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2000" dirty="0">
                <a:latin typeface="Times New Roman" panose="02020603050405020304" pitchFamily="18" charset="0"/>
                <a:ea typeface="Manrope" pitchFamily="34" charset="-122"/>
                <a:cs typeface="Times New Roman" panose="02020603050405020304" pitchFamily="18" charset="0"/>
              </a:rPr>
              <a:t>Order placement</a:t>
            </a:r>
            <a:endParaRPr lang="en-US" sz="2000" dirty="0">
              <a:latin typeface="Times New Roman" panose="02020603050405020304" pitchFamily="18" charset="0"/>
              <a:cs typeface="Times New Roman" panose="02020603050405020304" pitchFamily="18" charset="0"/>
            </a:endParaRPr>
          </a:p>
        </p:txBody>
      </p:sp>
      <p:sp>
        <p:nvSpPr>
          <p:cNvPr id="15" name="Text 13">
            <a:extLst>
              <a:ext uri="{FF2B5EF4-FFF2-40B4-BE49-F238E27FC236}">
                <a16:creationId xmlns:a16="http://schemas.microsoft.com/office/drawing/2014/main" id="{E512187D-BFD8-BAE6-B594-DE8FD2BDEA61}"/>
              </a:ext>
            </a:extLst>
          </p:cNvPr>
          <p:cNvSpPr/>
          <p:nvPr/>
        </p:nvSpPr>
        <p:spPr>
          <a:xfrm>
            <a:off x="7156178" y="4686811"/>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2000" dirty="0">
                <a:latin typeface="Times New Roman" panose="02020603050405020304" pitchFamily="18" charset="0"/>
                <a:ea typeface="Manrope" pitchFamily="34" charset="-122"/>
                <a:cs typeface="Times New Roman" panose="02020603050405020304" pitchFamily="18" charset="0"/>
              </a:rPr>
              <a:t>Bill viewing</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89188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Image 0" descr="preencoded.png">
            <a:extLst>
              <a:ext uri="{FF2B5EF4-FFF2-40B4-BE49-F238E27FC236}">
                <a16:creationId xmlns:a16="http://schemas.microsoft.com/office/drawing/2014/main" id="{579FA7C2-C569-8854-8345-23785390A008}"/>
              </a:ext>
            </a:extLst>
          </p:cNvPr>
          <p:cNvPicPr>
            <a:picLocks noChangeAspect="1"/>
          </p:cNvPicPr>
          <p:nvPr/>
        </p:nvPicPr>
        <p:blipFill>
          <a:blip r:embed="rId2"/>
          <a:stretch>
            <a:fillRect/>
          </a:stretch>
        </p:blipFill>
        <p:spPr>
          <a:xfrm>
            <a:off x="0" y="-15754"/>
            <a:ext cx="4741198" cy="6873754"/>
          </a:xfrm>
          <a:prstGeom prst="rect">
            <a:avLst/>
          </a:prstGeom>
        </p:spPr>
      </p:pic>
      <p:sp>
        <p:nvSpPr>
          <p:cNvPr id="38" name="Text 0">
            <a:extLst>
              <a:ext uri="{FF2B5EF4-FFF2-40B4-BE49-F238E27FC236}">
                <a16:creationId xmlns:a16="http://schemas.microsoft.com/office/drawing/2014/main" id="{FAB41AFA-0BEB-CBB3-7FD1-AF6FD34761B5}"/>
              </a:ext>
            </a:extLst>
          </p:cNvPr>
          <p:cNvSpPr/>
          <p:nvPr/>
        </p:nvSpPr>
        <p:spPr>
          <a:xfrm>
            <a:off x="4850606" y="469463"/>
            <a:ext cx="7556421" cy="1275874"/>
          </a:xfrm>
          <a:prstGeom prst="rect">
            <a:avLst/>
          </a:prstGeom>
          <a:noFill/>
          <a:ln/>
        </p:spPr>
        <p:txBody>
          <a:bodyPr wrap="square" lIns="0" tIns="0" rIns="0" bIns="0" rtlCol="0" anchor="t"/>
          <a:lstStyle/>
          <a:p>
            <a:pPr marL="0" indent="0" algn="l">
              <a:lnSpc>
                <a:spcPts val="5000"/>
              </a:lnSpc>
              <a:buNone/>
            </a:pPr>
            <a:r>
              <a:rPr lang="en-US" sz="4400" b="1" dirty="0">
                <a:solidFill>
                  <a:srgbClr val="0C0D0F"/>
                </a:solidFill>
                <a:latin typeface="Times New Roman" panose="02020603050405020304" pitchFamily="18" charset="0"/>
                <a:ea typeface="Inter" pitchFamily="34" charset="-122"/>
                <a:cs typeface="Times New Roman" panose="02020603050405020304" pitchFamily="18" charset="0"/>
              </a:rPr>
              <a:t>Tools and Technologies:</a:t>
            </a:r>
            <a:endParaRPr lang="en-US" sz="4400" b="1" dirty="0">
              <a:latin typeface="Times New Roman" panose="02020603050405020304" pitchFamily="18" charset="0"/>
              <a:cs typeface="Times New Roman" panose="02020603050405020304" pitchFamily="18" charset="0"/>
            </a:endParaRPr>
          </a:p>
        </p:txBody>
      </p:sp>
      <p:sp>
        <p:nvSpPr>
          <p:cNvPr id="39" name="Text 1">
            <a:extLst>
              <a:ext uri="{FF2B5EF4-FFF2-40B4-BE49-F238E27FC236}">
                <a16:creationId xmlns:a16="http://schemas.microsoft.com/office/drawing/2014/main" id="{3B7822D8-6386-B4DD-C25E-669164BD7DF1}"/>
              </a:ext>
            </a:extLst>
          </p:cNvPr>
          <p:cNvSpPr/>
          <p:nvPr/>
        </p:nvSpPr>
        <p:spPr>
          <a:xfrm>
            <a:off x="4850605" y="1269724"/>
            <a:ext cx="7556421" cy="326708"/>
          </a:xfrm>
          <a:prstGeom prst="rect">
            <a:avLst/>
          </a:prstGeom>
          <a:noFill/>
          <a:ln/>
        </p:spPr>
        <p:txBody>
          <a:bodyPr wrap="none" lIns="0" tIns="0" rIns="0" bIns="0" rtlCol="0" anchor="t"/>
          <a:lstStyle/>
          <a:p>
            <a:pPr marL="0" indent="0" algn="l">
              <a:lnSpc>
                <a:spcPts val="2550"/>
              </a:lnSpc>
              <a:buNone/>
            </a:pPr>
            <a:r>
              <a:rPr lang="en-US" sz="1600" dirty="0">
                <a:solidFill>
                  <a:srgbClr val="55575A"/>
                </a:solidFill>
                <a:latin typeface="Times New Roman" panose="02020603050405020304" pitchFamily="18" charset="0"/>
                <a:ea typeface="Manrope" pitchFamily="34" charset="-122"/>
                <a:cs typeface="Times New Roman" panose="02020603050405020304" pitchFamily="18" charset="0"/>
              </a:rPr>
              <a:t>AgroBoost is built using a robust stack of development tools and technologies.</a:t>
            </a:r>
            <a:endParaRPr lang="en-US" sz="1600" dirty="0">
              <a:latin typeface="Times New Roman" panose="02020603050405020304" pitchFamily="18" charset="0"/>
              <a:cs typeface="Times New Roman" panose="02020603050405020304" pitchFamily="18" charset="0"/>
            </a:endParaRPr>
          </a:p>
        </p:txBody>
      </p:sp>
      <p:pic>
        <p:nvPicPr>
          <p:cNvPr id="40" name="Image 1" descr="preencoded.png">
            <a:extLst>
              <a:ext uri="{FF2B5EF4-FFF2-40B4-BE49-F238E27FC236}">
                <a16:creationId xmlns:a16="http://schemas.microsoft.com/office/drawing/2014/main" id="{D2FA93E3-EE9B-2982-624D-8F456C8A6ED6}"/>
              </a:ext>
            </a:extLst>
          </p:cNvPr>
          <p:cNvPicPr>
            <a:picLocks noChangeAspect="1"/>
          </p:cNvPicPr>
          <p:nvPr/>
        </p:nvPicPr>
        <p:blipFill>
          <a:blip r:embed="rId3"/>
          <a:stretch>
            <a:fillRect/>
          </a:stretch>
        </p:blipFill>
        <p:spPr>
          <a:xfrm>
            <a:off x="5161338" y="2486237"/>
            <a:ext cx="510302" cy="510302"/>
          </a:xfrm>
          <a:prstGeom prst="rect">
            <a:avLst/>
          </a:prstGeom>
        </p:spPr>
      </p:pic>
      <p:sp>
        <p:nvSpPr>
          <p:cNvPr id="41" name="Text 2">
            <a:extLst>
              <a:ext uri="{FF2B5EF4-FFF2-40B4-BE49-F238E27FC236}">
                <a16:creationId xmlns:a16="http://schemas.microsoft.com/office/drawing/2014/main" id="{747B1375-B489-86ED-CB73-94DDD931C023}"/>
              </a:ext>
            </a:extLst>
          </p:cNvPr>
          <p:cNvSpPr/>
          <p:nvPr/>
        </p:nvSpPr>
        <p:spPr>
          <a:xfrm>
            <a:off x="5926849" y="2593211"/>
            <a:ext cx="2348627" cy="318849"/>
          </a:xfrm>
          <a:prstGeom prst="rect">
            <a:avLst/>
          </a:prstGeom>
          <a:noFill/>
          <a:ln/>
        </p:spPr>
        <p:txBody>
          <a:bodyPr wrap="none" lIns="0" tIns="0" rIns="0" bIns="0" rtlCol="0" anchor="t"/>
          <a:lstStyle/>
          <a:p>
            <a:pPr marL="0" indent="0" algn="l">
              <a:lnSpc>
                <a:spcPts val="2500"/>
              </a:lnSpc>
              <a:buNone/>
            </a:pPr>
            <a:r>
              <a:rPr lang="en-US" sz="2400" b="1" dirty="0">
                <a:latin typeface="Times New Roman" panose="02020603050405020304" pitchFamily="18" charset="0"/>
                <a:ea typeface="Inter" pitchFamily="34" charset="-122"/>
                <a:cs typeface="Times New Roman" panose="02020603050405020304" pitchFamily="18" charset="0"/>
              </a:rPr>
              <a:t>Frontend</a:t>
            </a:r>
            <a:endParaRPr lang="en-US" sz="2400" b="1" dirty="0">
              <a:latin typeface="Times New Roman" panose="02020603050405020304" pitchFamily="18" charset="0"/>
              <a:cs typeface="Times New Roman" panose="02020603050405020304" pitchFamily="18" charset="0"/>
            </a:endParaRPr>
          </a:p>
        </p:txBody>
      </p:sp>
      <p:sp>
        <p:nvSpPr>
          <p:cNvPr id="42" name="Text 3">
            <a:extLst>
              <a:ext uri="{FF2B5EF4-FFF2-40B4-BE49-F238E27FC236}">
                <a16:creationId xmlns:a16="http://schemas.microsoft.com/office/drawing/2014/main" id="{CA763C24-4C05-84E6-0BD8-238AD854860C}"/>
              </a:ext>
            </a:extLst>
          </p:cNvPr>
          <p:cNvSpPr/>
          <p:nvPr/>
        </p:nvSpPr>
        <p:spPr>
          <a:xfrm>
            <a:off x="5161338" y="3092178"/>
            <a:ext cx="2607086" cy="980123"/>
          </a:xfrm>
          <a:prstGeom prst="rect">
            <a:avLst/>
          </a:prstGeom>
          <a:noFill/>
          <a:ln/>
        </p:spPr>
        <p:txBody>
          <a:bodyPr wrap="square" lIns="0" tIns="0" rIns="0" bIns="0" rtlCol="0" anchor="t"/>
          <a:lstStyle/>
          <a:p>
            <a:pPr marL="0" indent="0" algn="l">
              <a:lnSpc>
                <a:spcPts val="2550"/>
              </a:lnSpc>
              <a:buNone/>
            </a:pPr>
            <a:r>
              <a:rPr lang="en-US" sz="2000" dirty="0">
                <a:solidFill>
                  <a:srgbClr val="55575A"/>
                </a:solidFill>
                <a:latin typeface="Times New Roman" panose="02020603050405020304" pitchFamily="18" charset="0"/>
                <a:ea typeface="Manrope" pitchFamily="34" charset="-122"/>
                <a:cs typeface="Times New Roman" panose="02020603050405020304" pitchFamily="18" charset="0"/>
              </a:rPr>
              <a:t>HTML, CSS, JavaScript ensure a responsive user interface.</a:t>
            </a:r>
            <a:endParaRPr lang="en-US" sz="2000" dirty="0">
              <a:latin typeface="Times New Roman" panose="02020603050405020304" pitchFamily="18" charset="0"/>
              <a:cs typeface="Times New Roman" panose="02020603050405020304" pitchFamily="18" charset="0"/>
            </a:endParaRPr>
          </a:p>
        </p:txBody>
      </p:sp>
      <p:pic>
        <p:nvPicPr>
          <p:cNvPr id="43" name="Image 2" descr="preencoded.png">
            <a:extLst>
              <a:ext uri="{FF2B5EF4-FFF2-40B4-BE49-F238E27FC236}">
                <a16:creationId xmlns:a16="http://schemas.microsoft.com/office/drawing/2014/main" id="{EEBF5B01-7848-C21A-59A7-876A52276434}"/>
              </a:ext>
            </a:extLst>
          </p:cNvPr>
          <p:cNvPicPr>
            <a:picLocks noChangeAspect="1"/>
          </p:cNvPicPr>
          <p:nvPr/>
        </p:nvPicPr>
        <p:blipFill>
          <a:blip r:embed="rId4"/>
          <a:stretch>
            <a:fillRect/>
          </a:stretch>
        </p:blipFill>
        <p:spPr>
          <a:xfrm>
            <a:off x="9548039" y="2393761"/>
            <a:ext cx="510302" cy="510302"/>
          </a:xfrm>
          <a:prstGeom prst="rect">
            <a:avLst/>
          </a:prstGeom>
        </p:spPr>
      </p:pic>
      <p:sp>
        <p:nvSpPr>
          <p:cNvPr id="44" name="Text 4">
            <a:extLst>
              <a:ext uri="{FF2B5EF4-FFF2-40B4-BE49-F238E27FC236}">
                <a16:creationId xmlns:a16="http://schemas.microsoft.com/office/drawing/2014/main" id="{F0A37005-5444-4298-3E1C-9F9234E83F01}"/>
              </a:ext>
            </a:extLst>
          </p:cNvPr>
          <p:cNvSpPr/>
          <p:nvPr/>
        </p:nvSpPr>
        <p:spPr>
          <a:xfrm>
            <a:off x="10247460" y="2477847"/>
            <a:ext cx="2348746" cy="318849"/>
          </a:xfrm>
          <a:prstGeom prst="rect">
            <a:avLst/>
          </a:prstGeom>
          <a:noFill/>
          <a:ln/>
        </p:spPr>
        <p:txBody>
          <a:bodyPr wrap="none" lIns="0" tIns="0" rIns="0" bIns="0" rtlCol="0" anchor="t"/>
          <a:lstStyle/>
          <a:p>
            <a:pPr marL="0" indent="0" algn="l">
              <a:lnSpc>
                <a:spcPts val="2500"/>
              </a:lnSpc>
              <a:buNone/>
            </a:pPr>
            <a:r>
              <a:rPr lang="en-US" sz="2400" b="1" dirty="0">
                <a:latin typeface="Times New Roman" panose="02020603050405020304" pitchFamily="18" charset="0"/>
                <a:ea typeface="Inter" pitchFamily="34" charset="-122"/>
                <a:cs typeface="Times New Roman" panose="02020603050405020304" pitchFamily="18" charset="0"/>
              </a:rPr>
              <a:t>Backend</a:t>
            </a:r>
            <a:endParaRPr lang="en-US" sz="2400" b="1" dirty="0">
              <a:latin typeface="Times New Roman" panose="02020603050405020304" pitchFamily="18" charset="0"/>
              <a:cs typeface="Times New Roman" panose="02020603050405020304" pitchFamily="18" charset="0"/>
            </a:endParaRPr>
          </a:p>
        </p:txBody>
      </p:sp>
      <p:sp>
        <p:nvSpPr>
          <p:cNvPr id="45" name="Text 5">
            <a:extLst>
              <a:ext uri="{FF2B5EF4-FFF2-40B4-BE49-F238E27FC236}">
                <a16:creationId xmlns:a16="http://schemas.microsoft.com/office/drawing/2014/main" id="{9A05D958-8C45-C297-AEF2-938FAC25D1E2}"/>
              </a:ext>
            </a:extLst>
          </p:cNvPr>
          <p:cNvSpPr/>
          <p:nvPr/>
        </p:nvSpPr>
        <p:spPr>
          <a:xfrm>
            <a:off x="9394269" y="3026460"/>
            <a:ext cx="2348746" cy="980123"/>
          </a:xfrm>
          <a:prstGeom prst="rect">
            <a:avLst/>
          </a:prstGeom>
          <a:noFill/>
          <a:ln/>
        </p:spPr>
        <p:txBody>
          <a:bodyPr wrap="square" lIns="0" tIns="0" rIns="0" bIns="0" rtlCol="0" anchor="t"/>
          <a:lstStyle/>
          <a:p>
            <a:pPr marL="0" indent="0" algn="l">
              <a:lnSpc>
                <a:spcPts val="2550"/>
              </a:lnSpc>
              <a:buNone/>
            </a:pPr>
            <a:r>
              <a:rPr lang="en-US" sz="2000" dirty="0">
                <a:solidFill>
                  <a:srgbClr val="55575A"/>
                </a:solidFill>
                <a:latin typeface="Times New Roman" panose="02020603050405020304" pitchFamily="18" charset="0"/>
                <a:ea typeface="Manrope" pitchFamily="34" charset="-122"/>
                <a:cs typeface="Times New Roman" panose="02020603050405020304" pitchFamily="18" charset="0"/>
              </a:rPr>
              <a:t>PHP powers server-side logic and database interactions.</a:t>
            </a:r>
            <a:endParaRPr lang="en-US" sz="2000" dirty="0">
              <a:latin typeface="Times New Roman" panose="02020603050405020304" pitchFamily="18" charset="0"/>
              <a:cs typeface="Times New Roman" panose="02020603050405020304" pitchFamily="18" charset="0"/>
            </a:endParaRPr>
          </a:p>
        </p:txBody>
      </p:sp>
      <p:pic>
        <p:nvPicPr>
          <p:cNvPr id="46" name="Image 3" descr="preencoded.png">
            <a:extLst>
              <a:ext uri="{FF2B5EF4-FFF2-40B4-BE49-F238E27FC236}">
                <a16:creationId xmlns:a16="http://schemas.microsoft.com/office/drawing/2014/main" id="{C747D01D-0311-4B44-376C-D771AC4E698F}"/>
              </a:ext>
            </a:extLst>
          </p:cNvPr>
          <p:cNvPicPr>
            <a:picLocks noChangeAspect="1"/>
          </p:cNvPicPr>
          <p:nvPr/>
        </p:nvPicPr>
        <p:blipFill>
          <a:blip r:embed="rId5"/>
          <a:stretch>
            <a:fillRect/>
          </a:stretch>
        </p:blipFill>
        <p:spPr>
          <a:xfrm>
            <a:off x="9548039" y="4634590"/>
            <a:ext cx="510302" cy="510302"/>
          </a:xfrm>
          <a:prstGeom prst="rect">
            <a:avLst/>
          </a:prstGeom>
        </p:spPr>
      </p:pic>
      <p:sp>
        <p:nvSpPr>
          <p:cNvPr id="47" name="Text 6">
            <a:extLst>
              <a:ext uri="{FF2B5EF4-FFF2-40B4-BE49-F238E27FC236}">
                <a16:creationId xmlns:a16="http://schemas.microsoft.com/office/drawing/2014/main" id="{F3BB2D0B-CBBB-D32E-5644-C992965848EB}"/>
              </a:ext>
            </a:extLst>
          </p:cNvPr>
          <p:cNvSpPr/>
          <p:nvPr/>
        </p:nvSpPr>
        <p:spPr>
          <a:xfrm>
            <a:off x="10247460" y="4790254"/>
            <a:ext cx="2348746" cy="318849"/>
          </a:xfrm>
          <a:prstGeom prst="rect">
            <a:avLst/>
          </a:prstGeom>
          <a:noFill/>
          <a:ln/>
        </p:spPr>
        <p:txBody>
          <a:bodyPr wrap="none" lIns="0" tIns="0" rIns="0" bIns="0" rtlCol="0" anchor="t"/>
          <a:lstStyle/>
          <a:p>
            <a:pPr marL="0" indent="0" algn="l">
              <a:lnSpc>
                <a:spcPts val="2500"/>
              </a:lnSpc>
              <a:buNone/>
            </a:pPr>
            <a:r>
              <a:rPr lang="en-US" sz="2400" b="1" dirty="0">
                <a:latin typeface="Times New Roman" panose="02020603050405020304" pitchFamily="18" charset="0"/>
                <a:ea typeface="Inter" pitchFamily="34" charset="-122"/>
                <a:cs typeface="Times New Roman" panose="02020603050405020304" pitchFamily="18" charset="0"/>
              </a:rPr>
              <a:t>Database</a:t>
            </a:r>
            <a:endParaRPr lang="en-US" sz="2400" b="1" dirty="0">
              <a:latin typeface="Times New Roman" panose="02020603050405020304" pitchFamily="18" charset="0"/>
              <a:cs typeface="Times New Roman" panose="02020603050405020304" pitchFamily="18" charset="0"/>
            </a:endParaRPr>
          </a:p>
        </p:txBody>
      </p:sp>
      <p:sp>
        <p:nvSpPr>
          <p:cNvPr id="48" name="Text 7">
            <a:extLst>
              <a:ext uri="{FF2B5EF4-FFF2-40B4-BE49-F238E27FC236}">
                <a16:creationId xmlns:a16="http://schemas.microsoft.com/office/drawing/2014/main" id="{EBFDC952-5509-08D6-7E2A-714586C9667E}"/>
              </a:ext>
            </a:extLst>
          </p:cNvPr>
          <p:cNvSpPr/>
          <p:nvPr/>
        </p:nvSpPr>
        <p:spPr>
          <a:xfrm>
            <a:off x="9394269" y="5316497"/>
            <a:ext cx="2348746" cy="653415"/>
          </a:xfrm>
          <a:prstGeom prst="rect">
            <a:avLst/>
          </a:prstGeom>
          <a:noFill/>
          <a:ln/>
        </p:spPr>
        <p:txBody>
          <a:bodyPr wrap="square" lIns="0" tIns="0" rIns="0" bIns="0" rtlCol="0" anchor="t"/>
          <a:lstStyle/>
          <a:p>
            <a:pPr marL="0" indent="0" algn="l">
              <a:lnSpc>
                <a:spcPts val="2550"/>
              </a:lnSpc>
              <a:buNone/>
            </a:pPr>
            <a:r>
              <a:rPr lang="en-US" sz="2000" dirty="0">
                <a:solidFill>
                  <a:srgbClr val="55575A"/>
                </a:solidFill>
                <a:latin typeface="Times New Roman" panose="02020603050405020304" pitchFamily="18" charset="0"/>
                <a:ea typeface="Manrope" pitchFamily="34" charset="-122"/>
                <a:cs typeface="Times New Roman" panose="02020603050405020304" pitchFamily="18" charset="0"/>
              </a:rPr>
              <a:t>MySQL manages all product and user data.</a:t>
            </a:r>
            <a:endParaRPr lang="en-US" sz="2000" dirty="0">
              <a:latin typeface="Times New Roman" panose="02020603050405020304" pitchFamily="18" charset="0"/>
              <a:cs typeface="Times New Roman" panose="02020603050405020304" pitchFamily="18" charset="0"/>
            </a:endParaRPr>
          </a:p>
        </p:txBody>
      </p:sp>
      <p:pic>
        <p:nvPicPr>
          <p:cNvPr id="49" name="Image 4" descr="preencoded.png">
            <a:extLst>
              <a:ext uri="{FF2B5EF4-FFF2-40B4-BE49-F238E27FC236}">
                <a16:creationId xmlns:a16="http://schemas.microsoft.com/office/drawing/2014/main" id="{2F866928-9E3A-883C-DAFD-C90DDE2E97C2}"/>
              </a:ext>
            </a:extLst>
          </p:cNvPr>
          <p:cNvPicPr>
            <a:picLocks noChangeAspect="1"/>
          </p:cNvPicPr>
          <p:nvPr/>
        </p:nvPicPr>
        <p:blipFill>
          <a:blip r:embed="rId6"/>
          <a:stretch>
            <a:fillRect/>
          </a:stretch>
        </p:blipFill>
        <p:spPr>
          <a:xfrm>
            <a:off x="5197365" y="4634590"/>
            <a:ext cx="510302" cy="510302"/>
          </a:xfrm>
          <a:prstGeom prst="rect">
            <a:avLst/>
          </a:prstGeom>
        </p:spPr>
      </p:pic>
      <p:sp>
        <p:nvSpPr>
          <p:cNvPr id="50" name="Text 8">
            <a:extLst>
              <a:ext uri="{FF2B5EF4-FFF2-40B4-BE49-F238E27FC236}">
                <a16:creationId xmlns:a16="http://schemas.microsoft.com/office/drawing/2014/main" id="{F87CF5D0-6739-D458-B747-1EC836061482}"/>
              </a:ext>
            </a:extLst>
          </p:cNvPr>
          <p:cNvSpPr/>
          <p:nvPr/>
        </p:nvSpPr>
        <p:spPr>
          <a:xfrm>
            <a:off x="5896786" y="4754464"/>
            <a:ext cx="2348627" cy="318849"/>
          </a:xfrm>
          <a:prstGeom prst="rect">
            <a:avLst/>
          </a:prstGeom>
          <a:noFill/>
          <a:ln/>
        </p:spPr>
        <p:txBody>
          <a:bodyPr wrap="none" lIns="0" tIns="0" rIns="0" bIns="0" rtlCol="0" anchor="t"/>
          <a:lstStyle/>
          <a:p>
            <a:pPr marL="0" indent="0" algn="l">
              <a:lnSpc>
                <a:spcPts val="2500"/>
              </a:lnSpc>
              <a:buNone/>
            </a:pPr>
            <a:r>
              <a:rPr lang="en-US" sz="2400" b="1" dirty="0">
                <a:latin typeface="Times New Roman" panose="02020603050405020304" pitchFamily="18" charset="0"/>
                <a:ea typeface="Inter" pitchFamily="34" charset="-122"/>
                <a:cs typeface="Times New Roman" panose="02020603050405020304" pitchFamily="18" charset="0"/>
              </a:rPr>
              <a:t>Development</a:t>
            </a:r>
            <a:r>
              <a:rPr lang="en-US" sz="2400" b="1" dirty="0">
                <a:solidFill>
                  <a:srgbClr val="55575A"/>
                </a:solidFill>
                <a:latin typeface="Times New Roman" panose="02020603050405020304" pitchFamily="18" charset="0"/>
                <a:ea typeface="Inter" pitchFamily="34" charset="-122"/>
                <a:cs typeface="Times New Roman" panose="02020603050405020304" pitchFamily="18" charset="0"/>
              </a:rPr>
              <a:t> </a:t>
            </a:r>
            <a:r>
              <a:rPr lang="en-US" sz="2400" b="1" dirty="0">
                <a:latin typeface="Times New Roman" panose="02020603050405020304" pitchFamily="18" charset="0"/>
                <a:ea typeface="Inter" pitchFamily="34" charset="-122"/>
                <a:cs typeface="Times New Roman" panose="02020603050405020304" pitchFamily="18" charset="0"/>
              </a:rPr>
              <a:t>Tools</a:t>
            </a:r>
            <a:endParaRPr lang="en-US" sz="2400" b="1" dirty="0">
              <a:latin typeface="Times New Roman" panose="02020603050405020304" pitchFamily="18" charset="0"/>
              <a:cs typeface="Times New Roman" panose="02020603050405020304" pitchFamily="18" charset="0"/>
            </a:endParaRPr>
          </a:p>
        </p:txBody>
      </p:sp>
      <p:sp>
        <p:nvSpPr>
          <p:cNvPr id="51" name="Text 9">
            <a:extLst>
              <a:ext uri="{FF2B5EF4-FFF2-40B4-BE49-F238E27FC236}">
                <a16:creationId xmlns:a16="http://schemas.microsoft.com/office/drawing/2014/main" id="{0DA7878E-70EE-3D0E-F004-69D829BA0B52}"/>
              </a:ext>
            </a:extLst>
          </p:cNvPr>
          <p:cNvSpPr/>
          <p:nvPr/>
        </p:nvSpPr>
        <p:spPr>
          <a:xfrm>
            <a:off x="5264705" y="5244825"/>
            <a:ext cx="2789966" cy="924712"/>
          </a:xfrm>
          <a:prstGeom prst="rect">
            <a:avLst/>
          </a:prstGeom>
          <a:noFill/>
          <a:ln/>
        </p:spPr>
        <p:txBody>
          <a:bodyPr wrap="square" lIns="0" tIns="0" rIns="0" bIns="0" rtlCol="0" anchor="t"/>
          <a:lstStyle/>
          <a:p>
            <a:pPr marL="0" indent="0" algn="l">
              <a:lnSpc>
                <a:spcPts val="2550"/>
              </a:lnSpc>
              <a:buNone/>
            </a:pPr>
            <a:r>
              <a:rPr lang="en-US" sz="2000" dirty="0">
                <a:solidFill>
                  <a:srgbClr val="55575A"/>
                </a:solidFill>
                <a:latin typeface="Times New Roman" panose="02020603050405020304" pitchFamily="18" charset="0"/>
                <a:ea typeface="Manrope" pitchFamily="34" charset="-122"/>
                <a:cs typeface="Times New Roman" panose="02020603050405020304" pitchFamily="18" charset="0"/>
              </a:rPr>
              <a:t>VS Code and PhpMyAdmin facilitate efficient development.</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700531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8B46B2-BCE1-1F05-E083-DA2CC17E44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CD12E6-C2F8-7E26-FF04-315DF26E2B63}"/>
              </a:ext>
            </a:extLst>
          </p:cNvPr>
          <p:cNvSpPr>
            <a:spLocks noGrp="1"/>
          </p:cNvSpPr>
          <p:nvPr>
            <p:ph type="title" idx="4294967295"/>
          </p:nvPr>
        </p:nvSpPr>
        <p:spPr>
          <a:xfrm>
            <a:off x="0" y="229017"/>
            <a:ext cx="10772775" cy="1306512"/>
          </a:xfrm>
        </p:spPr>
        <p:txBody>
          <a:bodyPr>
            <a:normAutofit/>
          </a:bodyPr>
          <a:lstStyle/>
          <a:p>
            <a:pPr algn="ctr"/>
            <a:r>
              <a:rPr lang="en-US" sz="4400" b="1" dirty="0">
                <a:solidFill>
                  <a:schemeClr val="tx1"/>
                </a:solidFill>
                <a:latin typeface="Times New Roman" panose="02020603050405020304" pitchFamily="18" charset="0"/>
                <a:cs typeface="Times New Roman" panose="02020603050405020304" pitchFamily="18" charset="0"/>
              </a:rPr>
              <a:t>          Process Logic </a:t>
            </a:r>
          </a:p>
        </p:txBody>
      </p:sp>
      <p:sp>
        <p:nvSpPr>
          <p:cNvPr id="46" name="Rectangle 45">
            <a:extLst>
              <a:ext uri="{FF2B5EF4-FFF2-40B4-BE49-F238E27FC236}">
                <a16:creationId xmlns:a16="http://schemas.microsoft.com/office/drawing/2014/main" id="{5168EA1B-4377-EDB9-6D15-3D5E8AA473A2}"/>
              </a:ext>
            </a:extLst>
          </p:cNvPr>
          <p:cNvSpPr/>
          <p:nvPr/>
        </p:nvSpPr>
        <p:spPr>
          <a:xfrm>
            <a:off x="1132113" y="2403566"/>
            <a:ext cx="2821577" cy="391885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Login and Registration</a:t>
            </a:r>
          </a:p>
          <a:p>
            <a:pPr marL="285750" indent="-285750">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Adding Products</a:t>
            </a:r>
          </a:p>
          <a:p>
            <a:pPr marL="285750" indent="-285750">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Product Details</a:t>
            </a:r>
          </a:p>
          <a:p>
            <a:pPr marL="285750" indent="-285750">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Order Details</a:t>
            </a:r>
          </a:p>
        </p:txBody>
      </p:sp>
      <p:sp>
        <p:nvSpPr>
          <p:cNvPr id="48" name="Title 1">
            <a:extLst>
              <a:ext uri="{FF2B5EF4-FFF2-40B4-BE49-F238E27FC236}">
                <a16:creationId xmlns:a16="http://schemas.microsoft.com/office/drawing/2014/main" id="{19F2CBC6-1F0C-2D04-6382-9BC75F71ABA0}"/>
              </a:ext>
            </a:extLst>
          </p:cNvPr>
          <p:cNvSpPr txBox="1">
            <a:spLocks/>
          </p:cNvSpPr>
          <p:nvPr/>
        </p:nvSpPr>
        <p:spPr>
          <a:xfrm>
            <a:off x="1208312" y="1713829"/>
            <a:ext cx="10228217" cy="68973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000" b="1" dirty="0">
                <a:latin typeface="Times New Roman" panose="02020603050405020304" pitchFamily="18" charset="0"/>
                <a:cs typeface="Times New Roman" panose="02020603050405020304" pitchFamily="18" charset="0"/>
              </a:rPr>
              <a:t>Input                            Process                            Output                                                                </a:t>
            </a:r>
          </a:p>
        </p:txBody>
      </p:sp>
      <p:sp>
        <p:nvSpPr>
          <p:cNvPr id="49" name="Rectangle 48">
            <a:extLst>
              <a:ext uri="{FF2B5EF4-FFF2-40B4-BE49-F238E27FC236}">
                <a16:creationId xmlns:a16="http://schemas.microsoft.com/office/drawing/2014/main" id="{6B487BE6-E22F-83D0-A032-DA670CE40D8B}"/>
              </a:ext>
            </a:extLst>
          </p:cNvPr>
          <p:cNvSpPr/>
          <p:nvPr/>
        </p:nvSpPr>
        <p:spPr>
          <a:xfrm>
            <a:off x="8553992" y="2403566"/>
            <a:ext cx="2821577" cy="391885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Login Status</a:t>
            </a:r>
          </a:p>
          <a:p>
            <a:pPr marL="285750" indent="-285750">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Listed Products</a:t>
            </a:r>
          </a:p>
          <a:p>
            <a:pPr marL="285750" indent="-285750">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Product Summary</a:t>
            </a:r>
          </a:p>
          <a:p>
            <a:pPr marL="285750" indent="-285750">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Order Summary</a:t>
            </a:r>
          </a:p>
        </p:txBody>
      </p:sp>
      <p:sp>
        <p:nvSpPr>
          <p:cNvPr id="50" name="Oval 49">
            <a:extLst>
              <a:ext uri="{FF2B5EF4-FFF2-40B4-BE49-F238E27FC236}">
                <a16:creationId xmlns:a16="http://schemas.microsoft.com/office/drawing/2014/main" id="{247BF2A6-C488-8711-E51C-105661B3170D}"/>
              </a:ext>
            </a:extLst>
          </p:cNvPr>
          <p:cNvSpPr/>
          <p:nvPr/>
        </p:nvSpPr>
        <p:spPr>
          <a:xfrm>
            <a:off x="5048790" y="2555965"/>
            <a:ext cx="2410102" cy="360970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000" dirty="0" err="1">
                <a:latin typeface="Times New Roman" panose="02020603050405020304" pitchFamily="18" charset="0"/>
                <a:cs typeface="Times New Roman" panose="02020603050405020304" pitchFamily="18" charset="0"/>
              </a:rPr>
              <a:t>AgroBoost</a:t>
            </a:r>
            <a:r>
              <a:rPr lang="en-IN" sz="2000" dirty="0">
                <a:latin typeface="Times New Roman" panose="02020603050405020304" pitchFamily="18" charset="0"/>
                <a:cs typeface="Times New Roman" panose="02020603050405020304" pitchFamily="18" charset="0"/>
              </a:rPr>
              <a:t>-Sai </a:t>
            </a:r>
          </a:p>
          <a:p>
            <a:pPr algn="ctr"/>
            <a:r>
              <a:rPr lang="en-IN" sz="2000" dirty="0" err="1">
                <a:latin typeface="Times New Roman" panose="02020603050405020304" pitchFamily="18" charset="0"/>
                <a:cs typeface="Times New Roman" panose="02020603050405020304" pitchFamily="18" charset="0"/>
              </a:rPr>
              <a:t>Agro</a:t>
            </a:r>
            <a:r>
              <a:rPr lang="en-IN" sz="2000" dirty="0">
                <a:latin typeface="Times New Roman" panose="02020603050405020304" pitchFamily="18" charset="0"/>
                <a:cs typeface="Times New Roman" panose="02020603050405020304" pitchFamily="18" charset="0"/>
              </a:rPr>
              <a:t> Fertilizers</a:t>
            </a:r>
          </a:p>
        </p:txBody>
      </p:sp>
    </p:spTree>
    <p:extLst>
      <p:ext uri="{BB962C8B-B14F-4D97-AF65-F5344CB8AC3E}">
        <p14:creationId xmlns:p14="http://schemas.microsoft.com/office/powerpoint/2010/main" val="32232242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C38021E-FF44-5C48-404B-B6DA0D17DC24}"/>
              </a:ext>
            </a:extLst>
          </p:cNvPr>
          <p:cNvSpPr txBox="1"/>
          <p:nvPr/>
        </p:nvSpPr>
        <p:spPr>
          <a:xfrm>
            <a:off x="2168013" y="206477"/>
            <a:ext cx="7565922" cy="769441"/>
          </a:xfrm>
          <a:prstGeom prst="rect">
            <a:avLst/>
          </a:prstGeom>
          <a:noFill/>
        </p:spPr>
        <p:txBody>
          <a:bodyPr wrap="square" rtlCol="0">
            <a:spAutoFit/>
          </a:bodyPr>
          <a:lstStyle/>
          <a:p>
            <a:pPr algn="ctr"/>
            <a:r>
              <a:rPr lang="en-IN" sz="4400" b="1" dirty="0">
                <a:latin typeface="Times New Roman" panose="02020603050405020304" pitchFamily="18" charset="0"/>
                <a:cs typeface="Times New Roman" panose="02020603050405020304" pitchFamily="18" charset="0"/>
              </a:rPr>
              <a:t>Database Structure</a:t>
            </a:r>
          </a:p>
        </p:txBody>
      </p:sp>
      <p:pic>
        <p:nvPicPr>
          <p:cNvPr id="8" name="Picture 7">
            <a:extLst>
              <a:ext uri="{FF2B5EF4-FFF2-40B4-BE49-F238E27FC236}">
                <a16:creationId xmlns:a16="http://schemas.microsoft.com/office/drawing/2014/main" id="{6DE7CA32-9342-724A-F4CD-1D3068252008}"/>
              </a:ext>
            </a:extLst>
          </p:cNvPr>
          <p:cNvPicPr>
            <a:picLocks noChangeAspect="1"/>
          </p:cNvPicPr>
          <p:nvPr/>
        </p:nvPicPr>
        <p:blipFill>
          <a:blip r:embed="rId2"/>
          <a:stretch>
            <a:fillRect/>
          </a:stretch>
        </p:blipFill>
        <p:spPr>
          <a:xfrm>
            <a:off x="1652987" y="1412341"/>
            <a:ext cx="8886025" cy="5239182"/>
          </a:xfrm>
          <a:prstGeom prst="rect">
            <a:avLst/>
          </a:prstGeom>
        </p:spPr>
      </p:pic>
    </p:spTree>
    <p:extLst>
      <p:ext uri="{BB962C8B-B14F-4D97-AF65-F5344CB8AC3E}">
        <p14:creationId xmlns:p14="http://schemas.microsoft.com/office/powerpoint/2010/main" val="40635132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7BBB915B-5DA3-790A-6526-439C6433FBAA}"/>
              </a:ext>
            </a:extLst>
          </p:cNvPr>
          <p:cNvSpPr/>
          <p:nvPr/>
        </p:nvSpPr>
        <p:spPr>
          <a:xfrm>
            <a:off x="2699699" y="425127"/>
            <a:ext cx="7112556" cy="425053"/>
          </a:xfrm>
          <a:prstGeom prst="rect">
            <a:avLst/>
          </a:prstGeom>
          <a:noFill/>
          <a:ln/>
        </p:spPr>
        <p:txBody>
          <a:bodyPr wrap="none" lIns="0" tIns="0" rIns="0" bIns="0" rtlCol="0" anchor="t"/>
          <a:lstStyle/>
          <a:p>
            <a:pPr marL="0" indent="0" algn="ctr">
              <a:lnSpc>
                <a:spcPts val="3300"/>
              </a:lnSpc>
              <a:buNone/>
            </a:pPr>
            <a:r>
              <a:rPr lang="en-US" sz="4400" b="1" dirty="0">
                <a:solidFill>
                  <a:srgbClr val="0C0D0F"/>
                </a:solidFill>
                <a:latin typeface="Times New Roman" panose="02020603050405020304" pitchFamily="18" charset="0"/>
                <a:ea typeface="Inter" pitchFamily="34" charset="-122"/>
                <a:cs typeface="Times New Roman" panose="02020603050405020304" pitchFamily="18" charset="0"/>
              </a:rPr>
              <a:t>Features: Enhanced Functionality</a:t>
            </a:r>
            <a:endParaRPr lang="en-US" sz="4400" b="1" dirty="0">
              <a:latin typeface="Times New Roman" panose="02020603050405020304" pitchFamily="18" charset="0"/>
              <a:cs typeface="Times New Roman" panose="02020603050405020304" pitchFamily="18" charset="0"/>
            </a:endParaRPr>
          </a:p>
        </p:txBody>
      </p:sp>
      <p:sp>
        <p:nvSpPr>
          <p:cNvPr id="5" name="Text 2">
            <a:extLst>
              <a:ext uri="{FF2B5EF4-FFF2-40B4-BE49-F238E27FC236}">
                <a16:creationId xmlns:a16="http://schemas.microsoft.com/office/drawing/2014/main" id="{1F0A990D-F7E2-4185-F358-5EE127E979FD}"/>
              </a:ext>
            </a:extLst>
          </p:cNvPr>
          <p:cNvSpPr/>
          <p:nvPr/>
        </p:nvSpPr>
        <p:spPr>
          <a:xfrm>
            <a:off x="-2973739" y="1407758"/>
            <a:ext cx="7679293" cy="448747"/>
          </a:xfrm>
          <a:prstGeom prst="rect">
            <a:avLst/>
          </a:prstGeom>
          <a:noFill/>
          <a:ln/>
        </p:spPr>
        <p:txBody>
          <a:bodyPr wrap="none" lIns="0" tIns="0" rIns="0" bIns="0" rtlCol="0" anchor="t"/>
          <a:lstStyle/>
          <a:p>
            <a:pPr marL="0" indent="0" algn="ctr">
              <a:lnSpc>
                <a:spcPts val="3500"/>
              </a:lnSpc>
              <a:buNone/>
            </a:pPr>
            <a:r>
              <a:rPr lang="en-US" sz="2500" b="1" dirty="0">
                <a:latin typeface="Inter" pitchFamily="34" charset="0"/>
                <a:ea typeface="Inter" pitchFamily="34" charset="-122"/>
                <a:cs typeface="Inter" pitchFamily="34" charset="-120"/>
              </a:rPr>
              <a:t>1.</a:t>
            </a:r>
            <a:endParaRPr lang="en-US" sz="2500" b="1" dirty="0"/>
          </a:p>
        </p:txBody>
      </p:sp>
      <p:sp>
        <p:nvSpPr>
          <p:cNvPr id="6" name="Text 3">
            <a:extLst>
              <a:ext uri="{FF2B5EF4-FFF2-40B4-BE49-F238E27FC236}">
                <a16:creationId xmlns:a16="http://schemas.microsoft.com/office/drawing/2014/main" id="{26BC4F19-4C35-7B51-5606-D0D0DCC424EB}"/>
              </a:ext>
            </a:extLst>
          </p:cNvPr>
          <p:cNvSpPr/>
          <p:nvPr/>
        </p:nvSpPr>
        <p:spPr>
          <a:xfrm>
            <a:off x="1327194" y="1575172"/>
            <a:ext cx="1700093" cy="212527"/>
          </a:xfrm>
          <a:prstGeom prst="rect">
            <a:avLst/>
          </a:prstGeom>
          <a:noFill/>
          <a:ln/>
        </p:spPr>
        <p:txBody>
          <a:bodyPr wrap="none" lIns="0" tIns="0" rIns="0" bIns="0" rtlCol="0" anchor="t"/>
          <a:lstStyle/>
          <a:p>
            <a:pPr marL="0" indent="0" algn="ctr">
              <a:lnSpc>
                <a:spcPts val="1650"/>
              </a:lnSpc>
              <a:buNone/>
            </a:pPr>
            <a:r>
              <a:rPr lang="en-US" sz="2000" b="1" dirty="0">
                <a:latin typeface="Inter" pitchFamily="34" charset="0"/>
                <a:ea typeface="Inter" pitchFamily="34" charset="-122"/>
                <a:cs typeface="Inter" pitchFamily="34" charset="-120"/>
              </a:rPr>
              <a:t>CAPTCHA Security</a:t>
            </a:r>
            <a:endParaRPr lang="en-US" sz="2000" b="1" dirty="0"/>
          </a:p>
        </p:txBody>
      </p:sp>
      <p:sp>
        <p:nvSpPr>
          <p:cNvPr id="7" name="Text 4">
            <a:extLst>
              <a:ext uri="{FF2B5EF4-FFF2-40B4-BE49-F238E27FC236}">
                <a16:creationId xmlns:a16="http://schemas.microsoft.com/office/drawing/2014/main" id="{103EE6BE-C662-CE59-3AE2-7503A3B36DF5}"/>
              </a:ext>
            </a:extLst>
          </p:cNvPr>
          <p:cNvSpPr/>
          <p:nvPr/>
        </p:nvSpPr>
        <p:spPr>
          <a:xfrm>
            <a:off x="-556050" y="1899924"/>
            <a:ext cx="7679293" cy="217527"/>
          </a:xfrm>
          <a:prstGeom prst="rect">
            <a:avLst/>
          </a:prstGeom>
          <a:noFill/>
          <a:ln/>
        </p:spPr>
        <p:txBody>
          <a:bodyPr wrap="none" lIns="0" tIns="0" rIns="0" bIns="0" rtlCol="0" anchor="t"/>
          <a:lstStyle/>
          <a:p>
            <a:pPr marL="0" indent="0" algn="ctr">
              <a:lnSpc>
                <a:spcPts val="1700"/>
              </a:lnSpc>
              <a:buNone/>
            </a:pPr>
            <a:r>
              <a:rPr lang="en-US" dirty="0">
                <a:solidFill>
                  <a:srgbClr val="55575A"/>
                </a:solidFill>
                <a:latin typeface="Manrope" pitchFamily="34" charset="0"/>
                <a:ea typeface="Manrope" pitchFamily="34" charset="-122"/>
                <a:cs typeface="Manrope" pitchFamily="34" charset="-120"/>
              </a:rPr>
              <a:t>Ensures secure login and registration processes.</a:t>
            </a:r>
            <a:endParaRPr lang="en-US" dirty="0"/>
          </a:p>
        </p:txBody>
      </p:sp>
      <p:sp>
        <p:nvSpPr>
          <p:cNvPr id="8" name="Text 5">
            <a:extLst>
              <a:ext uri="{FF2B5EF4-FFF2-40B4-BE49-F238E27FC236}">
                <a16:creationId xmlns:a16="http://schemas.microsoft.com/office/drawing/2014/main" id="{4EA38EF0-7FEA-A869-77F9-4383C2F05B13}"/>
              </a:ext>
            </a:extLst>
          </p:cNvPr>
          <p:cNvSpPr/>
          <p:nvPr/>
        </p:nvSpPr>
        <p:spPr>
          <a:xfrm>
            <a:off x="-2973739" y="2751520"/>
            <a:ext cx="7679293" cy="448747"/>
          </a:xfrm>
          <a:prstGeom prst="rect">
            <a:avLst/>
          </a:prstGeom>
          <a:noFill/>
          <a:ln/>
        </p:spPr>
        <p:txBody>
          <a:bodyPr wrap="none" lIns="0" tIns="0" rIns="0" bIns="0" rtlCol="0" anchor="t"/>
          <a:lstStyle/>
          <a:p>
            <a:pPr marL="0" indent="0" algn="ctr">
              <a:lnSpc>
                <a:spcPts val="3500"/>
              </a:lnSpc>
              <a:buNone/>
            </a:pPr>
            <a:r>
              <a:rPr lang="en-US" sz="2500" b="1" dirty="0">
                <a:latin typeface="Inter" pitchFamily="34" charset="0"/>
                <a:ea typeface="Inter" pitchFamily="34" charset="-122"/>
                <a:cs typeface="Inter" pitchFamily="34" charset="-120"/>
              </a:rPr>
              <a:t>2.</a:t>
            </a:r>
            <a:endParaRPr lang="en-US" sz="2500" b="1" dirty="0"/>
          </a:p>
        </p:txBody>
      </p:sp>
      <p:sp>
        <p:nvSpPr>
          <p:cNvPr id="9" name="Text 6">
            <a:extLst>
              <a:ext uri="{FF2B5EF4-FFF2-40B4-BE49-F238E27FC236}">
                <a16:creationId xmlns:a16="http://schemas.microsoft.com/office/drawing/2014/main" id="{41C18CBF-3241-5FDB-E40E-90E8316D5307}"/>
              </a:ext>
            </a:extLst>
          </p:cNvPr>
          <p:cNvSpPr/>
          <p:nvPr/>
        </p:nvSpPr>
        <p:spPr>
          <a:xfrm>
            <a:off x="1327193" y="2902499"/>
            <a:ext cx="1700093" cy="212527"/>
          </a:xfrm>
          <a:prstGeom prst="rect">
            <a:avLst/>
          </a:prstGeom>
          <a:noFill/>
          <a:ln/>
        </p:spPr>
        <p:txBody>
          <a:bodyPr wrap="none" lIns="0" tIns="0" rIns="0" bIns="0" rtlCol="0" anchor="t"/>
          <a:lstStyle/>
          <a:p>
            <a:pPr marL="0" indent="0" algn="ctr">
              <a:lnSpc>
                <a:spcPts val="1650"/>
              </a:lnSpc>
              <a:buNone/>
            </a:pPr>
            <a:r>
              <a:rPr lang="en-US" sz="2000" b="1" dirty="0">
                <a:latin typeface="Inter" pitchFamily="34" charset="0"/>
                <a:ea typeface="Inter" pitchFamily="34" charset="-122"/>
                <a:cs typeface="Inter" pitchFamily="34" charset="-120"/>
              </a:rPr>
              <a:t>Role-Based Access</a:t>
            </a:r>
            <a:endParaRPr lang="en-US" sz="2000" b="1" dirty="0"/>
          </a:p>
        </p:txBody>
      </p:sp>
      <p:sp>
        <p:nvSpPr>
          <p:cNvPr id="10" name="Text 7">
            <a:extLst>
              <a:ext uri="{FF2B5EF4-FFF2-40B4-BE49-F238E27FC236}">
                <a16:creationId xmlns:a16="http://schemas.microsoft.com/office/drawing/2014/main" id="{8FE1A186-6C72-163F-7A72-1B4C43113320}"/>
              </a:ext>
            </a:extLst>
          </p:cNvPr>
          <p:cNvSpPr/>
          <p:nvPr/>
        </p:nvSpPr>
        <p:spPr>
          <a:xfrm>
            <a:off x="-440293" y="3209074"/>
            <a:ext cx="7679293" cy="217527"/>
          </a:xfrm>
          <a:prstGeom prst="rect">
            <a:avLst/>
          </a:prstGeom>
          <a:noFill/>
          <a:ln/>
        </p:spPr>
        <p:txBody>
          <a:bodyPr wrap="none" lIns="0" tIns="0" rIns="0" bIns="0" rtlCol="0" anchor="t"/>
          <a:lstStyle/>
          <a:p>
            <a:pPr marL="0" indent="0" algn="ctr">
              <a:lnSpc>
                <a:spcPts val="1700"/>
              </a:lnSpc>
              <a:buNone/>
            </a:pPr>
            <a:r>
              <a:rPr lang="en-US" dirty="0">
                <a:latin typeface="Manrope" pitchFamily="34" charset="0"/>
                <a:ea typeface="Manrope" pitchFamily="34" charset="-122"/>
                <a:cs typeface="Manrope" pitchFamily="34" charset="-120"/>
              </a:rPr>
              <a:t>Redirects users to dashboards based on their roles.</a:t>
            </a:r>
            <a:endParaRPr lang="en-US" dirty="0"/>
          </a:p>
        </p:txBody>
      </p:sp>
      <p:sp>
        <p:nvSpPr>
          <p:cNvPr id="11" name="Text 8">
            <a:extLst>
              <a:ext uri="{FF2B5EF4-FFF2-40B4-BE49-F238E27FC236}">
                <a16:creationId xmlns:a16="http://schemas.microsoft.com/office/drawing/2014/main" id="{8DE50E63-17C6-7829-5E93-28709ED27414}"/>
              </a:ext>
            </a:extLst>
          </p:cNvPr>
          <p:cNvSpPr/>
          <p:nvPr/>
        </p:nvSpPr>
        <p:spPr>
          <a:xfrm>
            <a:off x="-2973739" y="4072279"/>
            <a:ext cx="7679293" cy="448747"/>
          </a:xfrm>
          <a:prstGeom prst="rect">
            <a:avLst/>
          </a:prstGeom>
          <a:noFill/>
          <a:ln/>
        </p:spPr>
        <p:txBody>
          <a:bodyPr wrap="none" lIns="0" tIns="0" rIns="0" bIns="0" rtlCol="0" anchor="t"/>
          <a:lstStyle/>
          <a:p>
            <a:pPr marL="0" indent="0" algn="ctr">
              <a:lnSpc>
                <a:spcPts val="3500"/>
              </a:lnSpc>
              <a:buNone/>
            </a:pPr>
            <a:r>
              <a:rPr lang="en-US" sz="2500" b="1" dirty="0">
                <a:latin typeface="Inter" pitchFamily="34" charset="0"/>
                <a:ea typeface="Inter" pitchFamily="34" charset="-122"/>
                <a:cs typeface="Inter" pitchFamily="34" charset="-120"/>
              </a:rPr>
              <a:t>3.</a:t>
            </a:r>
            <a:endParaRPr lang="en-US" sz="2500" b="1" dirty="0"/>
          </a:p>
        </p:txBody>
      </p:sp>
      <p:sp>
        <p:nvSpPr>
          <p:cNvPr id="12" name="Text 9">
            <a:extLst>
              <a:ext uri="{FF2B5EF4-FFF2-40B4-BE49-F238E27FC236}">
                <a16:creationId xmlns:a16="http://schemas.microsoft.com/office/drawing/2014/main" id="{D9BA7091-7FFB-20B3-B0BB-F82803B05101}"/>
              </a:ext>
            </a:extLst>
          </p:cNvPr>
          <p:cNvSpPr/>
          <p:nvPr/>
        </p:nvSpPr>
        <p:spPr>
          <a:xfrm>
            <a:off x="1496830" y="4213872"/>
            <a:ext cx="1728311" cy="212527"/>
          </a:xfrm>
          <a:prstGeom prst="rect">
            <a:avLst/>
          </a:prstGeom>
          <a:noFill/>
          <a:ln/>
        </p:spPr>
        <p:txBody>
          <a:bodyPr wrap="none" lIns="0" tIns="0" rIns="0" bIns="0" rtlCol="0" anchor="t"/>
          <a:lstStyle/>
          <a:p>
            <a:pPr marL="0" indent="0" algn="ctr">
              <a:lnSpc>
                <a:spcPts val="1650"/>
              </a:lnSpc>
              <a:buNone/>
            </a:pPr>
            <a:r>
              <a:rPr lang="en-US" sz="2000" b="1" dirty="0">
                <a:latin typeface="Inter" pitchFamily="34" charset="0"/>
                <a:ea typeface="Inter" pitchFamily="34" charset="-122"/>
                <a:cs typeface="Inter" pitchFamily="34" charset="-120"/>
              </a:rPr>
              <a:t>Product Management</a:t>
            </a:r>
            <a:endParaRPr lang="en-US" sz="2000" b="1" dirty="0"/>
          </a:p>
        </p:txBody>
      </p:sp>
      <p:sp>
        <p:nvSpPr>
          <p:cNvPr id="13" name="Text 10">
            <a:extLst>
              <a:ext uri="{FF2B5EF4-FFF2-40B4-BE49-F238E27FC236}">
                <a16:creationId xmlns:a16="http://schemas.microsoft.com/office/drawing/2014/main" id="{6EA21D5B-67E7-DBFC-A358-8E0062AAB08B}"/>
              </a:ext>
            </a:extLst>
          </p:cNvPr>
          <p:cNvSpPr/>
          <p:nvPr/>
        </p:nvSpPr>
        <p:spPr>
          <a:xfrm>
            <a:off x="-375942" y="4491622"/>
            <a:ext cx="7679293" cy="217527"/>
          </a:xfrm>
          <a:prstGeom prst="rect">
            <a:avLst/>
          </a:prstGeom>
          <a:noFill/>
          <a:ln/>
        </p:spPr>
        <p:txBody>
          <a:bodyPr wrap="none" lIns="0" tIns="0" rIns="0" bIns="0" rtlCol="0" anchor="t"/>
          <a:lstStyle/>
          <a:p>
            <a:pPr marL="0" indent="0" algn="ctr">
              <a:lnSpc>
                <a:spcPts val="1700"/>
              </a:lnSpc>
              <a:buNone/>
            </a:pPr>
            <a:r>
              <a:rPr lang="en-US" dirty="0">
                <a:solidFill>
                  <a:srgbClr val="55575A"/>
                </a:solidFill>
                <a:latin typeface="Manrope" pitchFamily="34" charset="0"/>
                <a:ea typeface="Manrope" pitchFamily="34" charset="-122"/>
                <a:cs typeface="Manrope" pitchFamily="34" charset="-120"/>
              </a:rPr>
              <a:t>Admin can add, update, and delete products easily.</a:t>
            </a:r>
            <a:endParaRPr lang="en-US" dirty="0"/>
          </a:p>
        </p:txBody>
      </p:sp>
      <p:sp>
        <p:nvSpPr>
          <p:cNvPr id="14" name="Text 11">
            <a:extLst>
              <a:ext uri="{FF2B5EF4-FFF2-40B4-BE49-F238E27FC236}">
                <a16:creationId xmlns:a16="http://schemas.microsoft.com/office/drawing/2014/main" id="{E5F54B8D-248E-FE0E-35FD-B05E2F9D4FFF}"/>
              </a:ext>
            </a:extLst>
          </p:cNvPr>
          <p:cNvSpPr/>
          <p:nvPr/>
        </p:nvSpPr>
        <p:spPr>
          <a:xfrm>
            <a:off x="-2973739" y="5450242"/>
            <a:ext cx="7679293" cy="448747"/>
          </a:xfrm>
          <a:prstGeom prst="rect">
            <a:avLst/>
          </a:prstGeom>
          <a:noFill/>
          <a:ln/>
        </p:spPr>
        <p:txBody>
          <a:bodyPr wrap="none" lIns="0" tIns="0" rIns="0" bIns="0" rtlCol="0" anchor="t"/>
          <a:lstStyle/>
          <a:p>
            <a:pPr marL="0" indent="0" algn="ctr">
              <a:lnSpc>
                <a:spcPts val="3500"/>
              </a:lnSpc>
              <a:buNone/>
            </a:pPr>
            <a:r>
              <a:rPr lang="en-US" sz="2500" b="1" dirty="0">
                <a:latin typeface="Inter" pitchFamily="34" charset="0"/>
                <a:ea typeface="Inter" pitchFamily="34" charset="-122"/>
                <a:cs typeface="Inter" pitchFamily="34" charset="-120"/>
              </a:rPr>
              <a:t>4.</a:t>
            </a:r>
            <a:endParaRPr lang="en-US" sz="2500" b="1" dirty="0"/>
          </a:p>
        </p:txBody>
      </p:sp>
      <p:sp>
        <p:nvSpPr>
          <p:cNvPr id="15" name="Text 12">
            <a:extLst>
              <a:ext uri="{FF2B5EF4-FFF2-40B4-BE49-F238E27FC236}">
                <a16:creationId xmlns:a16="http://schemas.microsoft.com/office/drawing/2014/main" id="{2259BB05-855C-D4C3-5E0E-4998EA84E1DE}"/>
              </a:ext>
            </a:extLst>
          </p:cNvPr>
          <p:cNvSpPr/>
          <p:nvPr/>
        </p:nvSpPr>
        <p:spPr>
          <a:xfrm>
            <a:off x="1167797" y="5608031"/>
            <a:ext cx="1700093" cy="212527"/>
          </a:xfrm>
          <a:prstGeom prst="rect">
            <a:avLst/>
          </a:prstGeom>
          <a:noFill/>
          <a:ln/>
        </p:spPr>
        <p:txBody>
          <a:bodyPr wrap="none" lIns="0" tIns="0" rIns="0" bIns="0" rtlCol="0" anchor="t"/>
          <a:lstStyle/>
          <a:p>
            <a:pPr marL="0" indent="0" algn="ctr">
              <a:lnSpc>
                <a:spcPts val="1650"/>
              </a:lnSpc>
              <a:buNone/>
            </a:pPr>
            <a:r>
              <a:rPr lang="en-US" sz="2000" b="1" dirty="0">
                <a:latin typeface="Inter" pitchFamily="34" charset="0"/>
                <a:ea typeface="Inter" pitchFamily="34" charset="-122"/>
                <a:cs typeface="Inter" pitchFamily="34" charset="-120"/>
              </a:rPr>
              <a:t>Secure Profiles</a:t>
            </a:r>
            <a:endParaRPr lang="en-US" sz="2000" b="1" dirty="0"/>
          </a:p>
        </p:txBody>
      </p:sp>
      <p:sp>
        <p:nvSpPr>
          <p:cNvPr id="16" name="Text 13">
            <a:extLst>
              <a:ext uri="{FF2B5EF4-FFF2-40B4-BE49-F238E27FC236}">
                <a16:creationId xmlns:a16="http://schemas.microsoft.com/office/drawing/2014/main" id="{E6562446-DBB8-D6D6-C33C-24A4D5749AF8}"/>
              </a:ext>
            </a:extLst>
          </p:cNvPr>
          <p:cNvSpPr/>
          <p:nvPr/>
        </p:nvSpPr>
        <p:spPr>
          <a:xfrm>
            <a:off x="-556051" y="5839251"/>
            <a:ext cx="7679293" cy="217527"/>
          </a:xfrm>
          <a:prstGeom prst="rect">
            <a:avLst/>
          </a:prstGeom>
          <a:noFill/>
          <a:ln/>
        </p:spPr>
        <p:txBody>
          <a:bodyPr wrap="none" lIns="0" tIns="0" rIns="0" bIns="0" rtlCol="0" anchor="t"/>
          <a:lstStyle/>
          <a:p>
            <a:pPr marL="0" indent="0" algn="ctr">
              <a:lnSpc>
                <a:spcPts val="1700"/>
              </a:lnSpc>
              <a:buNone/>
            </a:pPr>
            <a:r>
              <a:rPr lang="en-US" dirty="0">
                <a:solidFill>
                  <a:srgbClr val="55575A"/>
                </a:solidFill>
                <a:latin typeface="Manrope" pitchFamily="34" charset="0"/>
                <a:ea typeface="Manrope" pitchFamily="34" charset="-122"/>
                <a:cs typeface="Manrope" pitchFamily="34" charset="-120"/>
              </a:rPr>
              <a:t>Includes password hashing and profile updates.</a:t>
            </a:r>
            <a:endParaRPr lang="en-US" dirty="0"/>
          </a:p>
        </p:txBody>
      </p:sp>
      <p:pic>
        <p:nvPicPr>
          <p:cNvPr id="17" name="Picture 16">
            <a:extLst>
              <a:ext uri="{FF2B5EF4-FFF2-40B4-BE49-F238E27FC236}">
                <a16:creationId xmlns:a16="http://schemas.microsoft.com/office/drawing/2014/main" id="{50E588BA-CCFF-7200-3962-DDA1B590AF6E}"/>
              </a:ext>
            </a:extLst>
          </p:cNvPr>
          <p:cNvPicPr>
            <a:picLocks noChangeAspect="1"/>
          </p:cNvPicPr>
          <p:nvPr/>
        </p:nvPicPr>
        <p:blipFill>
          <a:blip r:embed="rId2"/>
          <a:stretch>
            <a:fillRect/>
          </a:stretch>
        </p:blipFill>
        <p:spPr>
          <a:xfrm>
            <a:off x="6171640" y="1739201"/>
            <a:ext cx="5858908" cy="3694940"/>
          </a:xfrm>
          <a:prstGeom prst="rect">
            <a:avLst/>
          </a:prstGeom>
        </p:spPr>
      </p:pic>
    </p:spTree>
    <p:extLst>
      <p:ext uri="{BB962C8B-B14F-4D97-AF65-F5344CB8AC3E}">
        <p14:creationId xmlns:p14="http://schemas.microsoft.com/office/powerpoint/2010/main" val="22109472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02266" y="-263889"/>
            <a:ext cx="10515600" cy="1325563"/>
          </a:xfrm>
        </p:spPr>
        <p:txBody>
          <a:bodyPr/>
          <a:lstStyle/>
          <a:p>
            <a:pPr algn="ctr"/>
            <a:r>
              <a:rPr lang="en-IN" b="1" dirty="0">
                <a:latin typeface="Times New Roman" panose="02020603050405020304" pitchFamily="18" charset="0"/>
                <a:cs typeface="Times New Roman" panose="02020603050405020304" pitchFamily="18" charset="0"/>
              </a:rPr>
              <a:t>Admin Dashboard</a:t>
            </a:r>
            <a:endParaRPr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302859" y="911224"/>
            <a:ext cx="11386318" cy="5600235"/>
          </a:xfrm>
        </p:spPr>
        <p:txBody>
          <a:bodyPr/>
          <a:lstStyle/>
          <a:p>
            <a:pPr marL="0" indent="0">
              <a:buNone/>
            </a:pPr>
            <a:r>
              <a:rPr lang="en-IN" b="1" dirty="0">
                <a:latin typeface="Times New Roman" panose="02020603050405020304" pitchFamily="18" charset="0"/>
                <a:cs typeface="Times New Roman" panose="02020603050405020304" pitchFamily="18" charset="0"/>
              </a:rPr>
              <a:t>	 			</a:t>
            </a:r>
            <a:endParaRPr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379B98E5-A53D-27FE-2C32-A12B399ACA89}"/>
              </a:ext>
            </a:extLst>
          </p:cNvPr>
          <p:cNvPicPr>
            <a:picLocks noChangeAspect="1"/>
          </p:cNvPicPr>
          <p:nvPr/>
        </p:nvPicPr>
        <p:blipFill>
          <a:blip r:embed="rId2"/>
          <a:stretch>
            <a:fillRect/>
          </a:stretch>
        </p:blipFill>
        <p:spPr>
          <a:xfrm>
            <a:off x="302859" y="986449"/>
            <a:ext cx="11609261" cy="5600235"/>
          </a:xfrm>
          <a:prstGeom prst="rect">
            <a:avLst/>
          </a:prstGeom>
          <a:ln w="127000" cap="sq">
            <a:solidFill>
              <a:srgbClr val="000000"/>
            </a:solidFill>
            <a:miter lim="800000"/>
          </a:ln>
          <a:effectLst>
            <a:outerShdw blurRad="57150" dist="50800" dir="2700000" algn="tl" rotWithShape="0">
              <a:srgbClr val="000000">
                <a:alpha val="40000"/>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8B9DE-26BA-FA16-EE6B-5389A03A5940}"/>
              </a:ext>
            </a:extLst>
          </p:cNvPr>
          <p:cNvSpPr>
            <a:spLocks noGrp="1"/>
          </p:cNvSpPr>
          <p:nvPr>
            <p:ph type="title"/>
          </p:nvPr>
        </p:nvSpPr>
        <p:spPr>
          <a:xfrm>
            <a:off x="838199" y="-146666"/>
            <a:ext cx="10515600" cy="1325563"/>
          </a:xfrm>
        </p:spPr>
        <p:txBody>
          <a:bodyPr/>
          <a:lstStyle/>
          <a:p>
            <a:pPr algn="ctr"/>
            <a:r>
              <a:rPr lang="en-IN" b="1" dirty="0">
                <a:latin typeface="Times New Roman" panose="02020603050405020304" pitchFamily="18" charset="0"/>
                <a:cs typeface="Times New Roman" panose="02020603050405020304" pitchFamily="18" charset="0"/>
              </a:rPr>
              <a:t>Customer Dashboard</a:t>
            </a:r>
          </a:p>
        </p:txBody>
      </p:sp>
      <p:pic>
        <p:nvPicPr>
          <p:cNvPr id="5" name="Content Placeholder 4">
            <a:extLst>
              <a:ext uri="{FF2B5EF4-FFF2-40B4-BE49-F238E27FC236}">
                <a16:creationId xmlns:a16="http://schemas.microsoft.com/office/drawing/2014/main" id="{593DCB25-CBBF-7A4E-3157-67F939CC85E5}"/>
              </a:ext>
            </a:extLst>
          </p:cNvPr>
          <p:cNvPicPr>
            <a:picLocks noGrp="1" noChangeAspect="1"/>
          </p:cNvPicPr>
          <p:nvPr>
            <p:ph idx="1"/>
          </p:nvPr>
        </p:nvPicPr>
        <p:blipFill>
          <a:blip r:embed="rId2"/>
          <a:stretch>
            <a:fillRect/>
          </a:stretch>
        </p:blipFill>
        <p:spPr>
          <a:xfrm>
            <a:off x="300251" y="1071349"/>
            <a:ext cx="11552830" cy="5411338"/>
          </a:xfrm>
          <a:prstGeom prst="rect">
            <a:avLst/>
          </a:prstGeom>
          <a:ln w="127000" cap="sq">
            <a:solidFill>
              <a:srgbClr val="000000"/>
            </a:solidFill>
            <a:miter lim="800000"/>
          </a:ln>
          <a:effectLst>
            <a:outerShdw blurRad="57150" dist="50800" dir="2700000" algn="tl" rotWithShape="0">
              <a:srgbClr val="000000">
                <a:alpha val="40000"/>
              </a:srgbClr>
            </a:outerShdw>
          </a:effectLst>
        </p:spPr>
      </p:pic>
    </p:spTree>
    <p:extLst>
      <p:ext uri="{BB962C8B-B14F-4D97-AF65-F5344CB8AC3E}">
        <p14:creationId xmlns:p14="http://schemas.microsoft.com/office/powerpoint/2010/main" val="358911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Box 19">
            <a:extLst>
              <a:ext uri="{FF2B5EF4-FFF2-40B4-BE49-F238E27FC236}">
                <a16:creationId xmlns:a16="http://schemas.microsoft.com/office/drawing/2014/main" id="{2297D1EA-55FE-A842-9241-5285BA87ACB0}"/>
              </a:ext>
            </a:extLst>
          </p:cNvPr>
          <p:cNvSpPr txBox="1"/>
          <p:nvPr/>
        </p:nvSpPr>
        <p:spPr>
          <a:xfrm>
            <a:off x="784614" y="4306529"/>
            <a:ext cx="318565" cy="369332"/>
          </a:xfrm>
          <a:prstGeom prst="rect">
            <a:avLst/>
          </a:prstGeom>
          <a:noFill/>
        </p:spPr>
        <p:txBody>
          <a:bodyPr wrap="square" rtlCol="0">
            <a:spAutoFit/>
          </a:bodyPr>
          <a:lstStyle/>
          <a:p>
            <a:endParaRPr lang="en-IN" dirty="0"/>
          </a:p>
        </p:txBody>
      </p:sp>
      <p:sp>
        <p:nvSpPr>
          <p:cNvPr id="22" name="Text 0">
            <a:extLst>
              <a:ext uri="{FF2B5EF4-FFF2-40B4-BE49-F238E27FC236}">
                <a16:creationId xmlns:a16="http://schemas.microsoft.com/office/drawing/2014/main" id="{1AE1BB64-1AA2-E029-C3A3-C2E5DAF7785A}"/>
              </a:ext>
            </a:extLst>
          </p:cNvPr>
          <p:cNvSpPr/>
          <p:nvPr/>
        </p:nvSpPr>
        <p:spPr>
          <a:xfrm>
            <a:off x="681146" y="2905018"/>
            <a:ext cx="7645718" cy="708779"/>
          </a:xfrm>
          <a:prstGeom prst="rect">
            <a:avLst/>
          </a:prstGeom>
          <a:noFill/>
          <a:ln/>
        </p:spPr>
        <p:txBody>
          <a:bodyPr wrap="none" lIns="0" tIns="0" rIns="0" bIns="0" rtlCol="0" anchor="t"/>
          <a:lstStyle/>
          <a:p>
            <a:pPr marL="0" indent="0" algn="l">
              <a:lnSpc>
                <a:spcPts val="5550"/>
              </a:lnSpc>
              <a:buNone/>
            </a:pPr>
            <a:r>
              <a:rPr lang="en-US" sz="4400" b="1" dirty="0">
                <a:solidFill>
                  <a:srgbClr val="373B48"/>
                </a:solidFill>
                <a:latin typeface="Times New Roman" panose="02020603050405020304" pitchFamily="18" charset="0"/>
                <a:ea typeface="Mona Sans Semi Bold" pitchFamily="34" charset="-122"/>
                <a:cs typeface="Times New Roman" panose="02020603050405020304" pitchFamily="18" charset="0"/>
              </a:rPr>
              <a:t>Testing-Rigorous Quality Assurance</a:t>
            </a:r>
            <a:endParaRPr lang="en-US" sz="4400" b="1" dirty="0">
              <a:latin typeface="Times New Roman" panose="02020603050405020304" pitchFamily="18" charset="0"/>
              <a:cs typeface="Times New Roman" panose="02020603050405020304" pitchFamily="18" charset="0"/>
            </a:endParaRPr>
          </a:p>
        </p:txBody>
      </p:sp>
      <p:sp>
        <p:nvSpPr>
          <p:cNvPr id="23" name="Shape 1">
            <a:extLst>
              <a:ext uri="{FF2B5EF4-FFF2-40B4-BE49-F238E27FC236}">
                <a16:creationId xmlns:a16="http://schemas.microsoft.com/office/drawing/2014/main" id="{195F5F3B-9CBB-6856-9A86-7110C504D940}"/>
              </a:ext>
            </a:extLst>
          </p:cNvPr>
          <p:cNvSpPr/>
          <p:nvPr/>
        </p:nvSpPr>
        <p:spPr>
          <a:xfrm>
            <a:off x="784614" y="3779532"/>
            <a:ext cx="510302" cy="510302"/>
          </a:xfrm>
          <a:prstGeom prst="roundRect">
            <a:avLst>
              <a:gd name="adj" fmla="val 18669"/>
            </a:avLst>
          </a:prstGeom>
          <a:solidFill>
            <a:srgbClr val="E2E4E9"/>
          </a:solidFill>
          <a:ln w="7620">
            <a:solidFill>
              <a:srgbClr val="C8CACF"/>
            </a:solidFill>
            <a:prstDash val="solid"/>
          </a:ln>
        </p:spPr>
        <p:txBody>
          <a:bodyPr/>
          <a:lstStyle/>
          <a:p>
            <a:r>
              <a:rPr lang="en-IN" sz="2500" b="1" dirty="0">
                <a:latin typeface="Times New Roman" panose="02020603050405020304" pitchFamily="18" charset="0"/>
                <a:cs typeface="Times New Roman" panose="02020603050405020304" pitchFamily="18" charset="0"/>
              </a:rPr>
              <a:t>1</a:t>
            </a:r>
            <a:r>
              <a:rPr lang="en-IN" sz="2400" b="1" dirty="0">
                <a:latin typeface="Times New Roman" panose="02020603050405020304" pitchFamily="18" charset="0"/>
                <a:cs typeface="Times New Roman" panose="02020603050405020304" pitchFamily="18" charset="0"/>
              </a:rPr>
              <a:t>.</a:t>
            </a:r>
          </a:p>
        </p:txBody>
      </p:sp>
      <p:sp>
        <p:nvSpPr>
          <p:cNvPr id="24" name="Text 2">
            <a:extLst>
              <a:ext uri="{FF2B5EF4-FFF2-40B4-BE49-F238E27FC236}">
                <a16:creationId xmlns:a16="http://schemas.microsoft.com/office/drawing/2014/main" id="{1E9CA777-0C4A-A396-1AF1-570F7E9DEA11}"/>
              </a:ext>
            </a:extLst>
          </p:cNvPr>
          <p:cNvSpPr/>
          <p:nvPr/>
        </p:nvSpPr>
        <p:spPr>
          <a:xfrm>
            <a:off x="1503871" y="3809114"/>
            <a:ext cx="2835235" cy="354330"/>
          </a:xfrm>
          <a:prstGeom prst="rect">
            <a:avLst/>
          </a:prstGeom>
          <a:noFill/>
          <a:ln/>
        </p:spPr>
        <p:txBody>
          <a:bodyPr wrap="none" lIns="0" tIns="0" rIns="0" bIns="0" rtlCol="0" anchor="t"/>
          <a:lstStyle/>
          <a:p>
            <a:pPr marL="0" indent="0" algn="l">
              <a:lnSpc>
                <a:spcPts val="2750"/>
              </a:lnSpc>
              <a:buNone/>
            </a:pPr>
            <a:r>
              <a:rPr lang="en-US" sz="2400" b="1" dirty="0">
                <a:latin typeface="Mona Sans Semi Bold" pitchFamily="34" charset="0"/>
                <a:ea typeface="Mona Sans Semi Bold" pitchFamily="34" charset="-122"/>
                <a:cs typeface="Mona Sans Semi Bold" pitchFamily="34" charset="-120"/>
              </a:rPr>
              <a:t>Unit Testing</a:t>
            </a:r>
            <a:endParaRPr lang="en-US" sz="2400" b="1" dirty="0"/>
          </a:p>
        </p:txBody>
      </p:sp>
      <p:sp>
        <p:nvSpPr>
          <p:cNvPr id="25" name="Text 3">
            <a:extLst>
              <a:ext uri="{FF2B5EF4-FFF2-40B4-BE49-F238E27FC236}">
                <a16:creationId xmlns:a16="http://schemas.microsoft.com/office/drawing/2014/main" id="{B1223F72-A6E9-04A2-48ED-20FA71D3DC6D}"/>
              </a:ext>
            </a:extLst>
          </p:cNvPr>
          <p:cNvSpPr/>
          <p:nvPr/>
        </p:nvSpPr>
        <p:spPr>
          <a:xfrm>
            <a:off x="1530905" y="4277903"/>
            <a:ext cx="5642610" cy="362903"/>
          </a:xfrm>
          <a:prstGeom prst="rect">
            <a:avLst/>
          </a:prstGeom>
          <a:noFill/>
          <a:ln/>
        </p:spPr>
        <p:txBody>
          <a:bodyPr wrap="none" lIns="0" tIns="0" rIns="0" bIns="0" rtlCol="0" anchor="t"/>
          <a:lstStyle/>
          <a:p>
            <a:pPr marL="0" indent="0" algn="l">
              <a:lnSpc>
                <a:spcPts val="2850"/>
              </a:lnSpc>
              <a:buNone/>
            </a:pPr>
            <a:r>
              <a:rPr lang="en-US" sz="2000" dirty="0">
                <a:solidFill>
                  <a:srgbClr val="52586B"/>
                </a:solidFill>
                <a:latin typeface="Funnel Sans" pitchFamily="34" charset="0"/>
                <a:ea typeface="Funnel Sans" pitchFamily="34" charset="-122"/>
                <a:cs typeface="Funnel Sans" pitchFamily="34" charset="-120"/>
              </a:rPr>
              <a:t>Individual component verification</a:t>
            </a:r>
            <a:endParaRPr lang="en-US" sz="2000" dirty="0"/>
          </a:p>
        </p:txBody>
      </p:sp>
      <p:sp>
        <p:nvSpPr>
          <p:cNvPr id="26" name="Shape 4">
            <a:extLst>
              <a:ext uri="{FF2B5EF4-FFF2-40B4-BE49-F238E27FC236}">
                <a16:creationId xmlns:a16="http://schemas.microsoft.com/office/drawing/2014/main" id="{AF150797-9AC4-EC2B-3524-05F657577E98}"/>
              </a:ext>
            </a:extLst>
          </p:cNvPr>
          <p:cNvSpPr/>
          <p:nvPr/>
        </p:nvSpPr>
        <p:spPr>
          <a:xfrm>
            <a:off x="7154353" y="3799456"/>
            <a:ext cx="510302" cy="510302"/>
          </a:xfrm>
          <a:prstGeom prst="roundRect">
            <a:avLst>
              <a:gd name="adj" fmla="val 18669"/>
            </a:avLst>
          </a:prstGeom>
          <a:solidFill>
            <a:srgbClr val="E2E4E9"/>
          </a:solidFill>
          <a:ln w="7620">
            <a:solidFill>
              <a:srgbClr val="C8CACF"/>
            </a:solidFill>
            <a:prstDash val="solid"/>
          </a:ln>
        </p:spPr>
        <p:txBody>
          <a:bodyPr/>
          <a:lstStyle/>
          <a:p>
            <a:r>
              <a:rPr lang="en-IN" sz="2500" b="1" dirty="0"/>
              <a:t>3.</a:t>
            </a:r>
          </a:p>
        </p:txBody>
      </p:sp>
      <p:sp>
        <p:nvSpPr>
          <p:cNvPr id="27" name="Text 5">
            <a:extLst>
              <a:ext uri="{FF2B5EF4-FFF2-40B4-BE49-F238E27FC236}">
                <a16:creationId xmlns:a16="http://schemas.microsoft.com/office/drawing/2014/main" id="{E6FE1F1A-0BF7-BCCC-4742-0243D6CEA10D}"/>
              </a:ext>
            </a:extLst>
          </p:cNvPr>
          <p:cNvSpPr/>
          <p:nvPr/>
        </p:nvSpPr>
        <p:spPr>
          <a:xfrm>
            <a:off x="7914297" y="3785495"/>
            <a:ext cx="2835235" cy="354330"/>
          </a:xfrm>
          <a:prstGeom prst="rect">
            <a:avLst/>
          </a:prstGeom>
          <a:noFill/>
          <a:ln/>
        </p:spPr>
        <p:txBody>
          <a:bodyPr wrap="none" lIns="0" tIns="0" rIns="0" bIns="0" rtlCol="0" anchor="t"/>
          <a:lstStyle/>
          <a:p>
            <a:pPr marL="0" indent="0" algn="l">
              <a:lnSpc>
                <a:spcPts val="2750"/>
              </a:lnSpc>
              <a:buNone/>
            </a:pPr>
            <a:r>
              <a:rPr lang="en-US" sz="2400" b="1" dirty="0">
                <a:latin typeface="Mona Sans Semi Bold" pitchFamily="34" charset="0"/>
                <a:ea typeface="Mona Sans Semi Bold" pitchFamily="34" charset="-122"/>
                <a:cs typeface="Mona Sans Semi Bold" pitchFamily="34" charset="-120"/>
              </a:rPr>
              <a:t>Integration Testing</a:t>
            </a:r>
            <a:endParaRPr lang="en-US" sz="2400" b="1" dirty="0"/>
          </a:p>
        </p:txBody>
      </p:sp>
      <p:sp>
        <p:nvSpPr>
          <p:cNvPr id="28" name="Text 6">
            <a:extLst>
              <a:ext uri="{FF2B5EF4-FFF2-40B4-BE49-F238E27FC236}">
                <a16:creationId xmlns:a16="http://schemas.microsoft.com/office/drawing/2014/main" id="{8145354A-ED7D-26CA-F9C0-A00834EB896B}"/>
              </a:ext>
            </a:extLst>
          </p:cNvPr>
          <p:cNvSpPr/>
          <p:nvPr/>
        </p:nvSpPr>
        <p:spPr>
          <a:xfrm>
            <a:off x="7928227" y="4287074"/>
            <a:ext cx="5642610" cy="362903"/>
          </a:xfrm>
          <a:prstGeom prst="rect">
            <a:avLst/>
          </a:prstGeom>
          <a:noFill/>
          <a:ln/>
        </p:spPr>
        <p:txBody>
          <a:bodyPr wrap="none" lIns="0" tIns="0" rIns="0" bIns="0" rtlCol="0" anchor="t"/>
          <a:lstStyle/>
          <a:p>
            <a:pPr marL="0" indent="0" algn="l">
              <a:lnSpc>
                <a:spcPts val="2850"/>
              </a:lnSpc>
              <a:buNone/>
            </a:pPr>
            <a:r>
              <a:rPr lang="en-US" sz="2000" dirty="0">
                <a:solidFill>
                  <a:srgbClr val="52586B"/>
                </a:solidFill>
                <a:latin typeface="Funnel Sans" pitchFamily="34" charset="0"/>
                <a:ea typeface="Funnel Sans" pitchFamily="34" charset="-122"/>
                <a:cs typeface="Funnel Sans" pitchFamily="34" charset="-120"/>
              </a:rPr>
              <a:t>Module interaction validation</a:t>
            </a:r>
            <a:endParaRPr lang="en-US" sz="2000" dirty="0"/>
          </a:p>
        </p:txBody>
      </p:sp>
      <p:sp>
        <p:nvSpPr>
          <p:cNvPr id="29" name="Shape 7">
            <a:extLst>
              <a:ext uri="{FF2B5EF4-FFF2-40B4-BE49-F238E27FC236}">
                <a16:creationId xmlns:a16="http://schemas.microsoft.com/office/drawing/2014/main" id="{D24A1187-469D-67C9-5C72-A84DFC64177B}"/>
              </a:ext>
            </a:extLst>
          </p:cNvPr>
          <p:cNvSpPr/>
          <p:nvPr/>
        </p:nvSpPr>
        <p:spPr>
          <a:xfrm>
            <a:off x="766755" y="5265897"/>
            <a:ext cx="510302" cy="510302"/>
          </a:xfrm>
          <a:prstGeom prst="roundRect">
            <a:avLst>
              <a:gd name="adj" fmla="val 18669"/>
            </a:avLst>
          </a:prstGeom>
          <a:solidFill>
            <a:srgbClr val="E2E4E9"/>
          </a:solidFill>
          <a:ln w="7620">
            <a:solidFill>
              <a:srgbClr val="C8CACF"/>
            </a:solidFill>
            <a:prstDash val="solid"/>
          </a:ln>
        </p:spPr>
        <p:txBody>
          <a:bodyPr/>
          <a:lstStyle/>
          <a:p>
            <a:r>
              <a:rPr lang="en-IN" sz="2500" b="1" dirty="0"/>
              <a:t>2.</a:t>
            </a:r>
          </a:p>
        </p:txBody>
      </p:sp>
      <p:sp>
        <p:nvSpPr>
          <p:cNvPr id="30" name="Text 8">
            <a:extLst>
              <a:ext uri="{FF2B5EF4-FFF2-40B4-BE49-F238E27FC236}">
                <a16:creationId xmlns:a16="http://schemas.microsoft.com/office/drawing/2014/main" id="{BB8CCCE7-D3F9-A001-7BA1-252F2C33DD1B}"/>
              </a:ext>
            </a:extLst>
          </p:cNvPr>
          <p:cNvSpPr/>
          <p:nvPr/>
        </p:nvSpPr>
        <p:spPr>
          <a:xfrm>
            <a:off x="1489941" y="5289383"/>
            <a:ext cx="2835235" cy="354330"/>
          </a:xfrm>
          <a:prstGeom prst="rect">
            <a:avLst/>
          </a:prstGeom>
          <a:noFill/>
          <a:ln/>
        </p:spPr>
        <p:txBody>
          <a:bodyPr wrap="none" lIns="0" tIns="0" rIns="0" bIns="0" rtlCol="0" anchor="t"/>
          <a:lstStyle/>
          <a:p>
            <a:pPr marL="0" indent="0" algn="l">
              <a:lnSpc>
                <a:spcPts val="2750"/>
              </a:lnSpc>
              <a:buNone/>
            </a:pPr>
            <a:r>
              <a:rPr lang="en-US" sz="2400" b="1" dirty="0">
                <a:latin typeface="Mona Sans Semi Bold" pitchFamily="34" charset="0"/>
                <a:ea typeface="Mona Sans Semi Bold" pitchFamily="34" charset="-122"/>
                <a:cs typeface="Mona Sans Semi Bold" pitchFamily="34" charset="-120"/>
              </a:rPr>
              <a:t>System Testing</a:t>
            </a:r>
            <a:endParaRPr lang="en-US" sz="2400" b="1" dirty="0"/>
          </a:p>
        </p:txBody>
      </p:sp>
      <p:sp>
        <p:nvSpPr>
          <p:cNvPr id="31" name="Text 9">
            <a:extLst>
              <a:ext uri="{FF2B5EF4-FFF2-40B4-BE49-F238E27FC236}">
                <a16:creationId xmlns:a16="http://schemas.microsoft.com/office/drawing/2014/main" id="{CB531239-4958-E2AB-8214-FEFD24B237B7}"/>
              </a:ext>
            </a:extLst>
          </p:cNvPr>
          <p:cNvSpPr/>
          <p:nvPr/>
        </p:nvSpPr>
        <p:spPr>
          <a:xfrm>
            <a:off x="1503871" y="5776199"/>
            <a:ext cx="5642610" cy="362903"/>
          </a:xfrm>
          <a:prstGeom prst="rect">
            <a:avLst/>
          </a:prstGeom>
          <a:noFill/>
          <a:ln/>
        </p:spPr>
        <p:txBody>
          <a:bodyPr wrap="none" lIns="0" tIns="0" rIns="0" bIns="0" rtlCol="0" anchor="t"/>
          <a:lstStyle/>
          <a:p>
            <a:pPr marL="0" indent="0" algn="l">
              <a:lnSpc>
                <a:spcPts val="2850"/>
              </a:lnSpc>
              <a:buNone/>
            </a:pPr>
            <a:r>
              <a:rPr lang="en-US" sz="2000" dirty="0">
                <a:solidFill>
                  <a:srgbClr val="52586B"/>
                </a:solidFill>
                <a:latin typeface="Funnel Sans" pitchFamily="34" charset="0"/>
                <a:ea typeface="Funnel Sans" pitchFamily="34" charset="-122"/>
                <a:cs typeface="Funnel Sans" pitchFamily="34" charset="-120"/>
              </a:rPr>
              <a:t>End-to-end functionality checks</a:t>
            </a:r>
            <a:endParaRPr lang="en-US" sz="2000" dirty="0"/>
          </a:p>
        </p:txBody>
      </p:sp>
      <p:sp>
        <p:nvSpPr>
          <p:cNvPr id="32" name="Shape 10">
            <a:extLst>
              <a:ext uri="{FF2B5EF4-FFF2-40B4-BE49-F238E27FC236}">
                <a16:creationId xmlns:a16="http://schemas.microsoft.com/office/drawing/2014/main" id="{F684C6D2-BC63-D9F7-7E1F-DF5417B2E1C4}"/>
              </a:ext>
            </a:extLst>
          </p:cNvPr>
          <p:cNvSpPr/>
          <p:nvPr/>
        </p:nvSpPr>
        <p:spPr>
          <a:xfrm>
            <a:off x="7173515" y="5244940"/>
            <a:ext cx="510302" cy="510302"/>
          </a:xfrm>
          <a:prstGeom prst="roundRect">
            <a:avLst>
              <a:gd name="adj" fmla="val 18669"/>
            </a:avLst>
          </a:prstGeom>
          <a:solidFill>
            <a:srgbClr val="E2E4E9"/>
          </a:solidFill>
          <a:ln w="7620">
            <a:solidFill>
              <a:srgbClr val="C8CACF"/>
            </a:solidFill>
            <a:prstDash val="solid"/>
          </a:ln>
        </p:spPr>
        <p:txBody>
          <a:bodyPr/>
          <a:lstStyle/>
          <a:p>
            <a:r>
              <a:rPr lang="en-IN" sz="2500" b="1" dirty="0"/>
              <a:t>4.</a:t>
            </a:r>
          </a:p>
        </p:txBody>
      </p:sp>
      <p:sp>
        <p:nvSpPr>
          <p:cNvPr id="33" name="Text 11">
            <a:extLst>
              <a:ext uri="{FF2B5EF4-FFF2-40B4-BE49-F238E27FC236}">
                <a16:creationId xmlns:a16="http://schemas.microsoft.com/office/drawing/2014/main" id="{C79E5E66-EA15-5521-0A5B-FB5F6475AAFD}"/>
              </a:ext>
            </a:extLst>
          </p:cNvPr>
          <p:cNvSpPr/>
          <p:nvPr/>
        </p:nvSpPr>
        <p:spPr>
          <a:xfrm>
            <a:off x="7981235" y="5244940"/>
            <a:ext cx="2835235" cy="354330"/>
          </a:xfrm>
          <a:prstGeom prst="rect">
            <a:avLst/>
          </a:prstGeom>
          <a:noFill/>
          <a:ln/>
        </p:spPr>
        <p:txBody>
          <a:bodyPr wrap="none" lIns="0" tIns="0" rIns="0" bIns="0" rtlCol="0" anchor="t"/>
          <a:lstStyle/>
          <a:p>
            <a:pPr marL="0" indent="0" algn="l">
              <a:lnSpc>
                <a:spcPts val="2750"/>
              </a:lnSpc>
              <a:buNone/>
            </a:pPr>
            <a:r>
              <a:rPr lang="en-US" sz="2400" b="1" dirty="0">
                <a:latin typeface="Mona Sans Semi Bold" pitchFamily="34" charset="0"/>
                <a:ea typeface="Mona Sans Semi Bold" pitchFamily="34" charset="-122"/>
                <a:cs typeface="Mona Sans Semi Bold" pitchFamily="34" charset="-120"/>
              </a:rPr>
              <a:t>Validation Checks</a:t>
            </a:r>
            <a:endParaRPr lang="en-US" sz="2400" b="1" dirty="0"/>
          </a:p>
        </p:txBody>
      </p:sp>
      <p:sp>
        <p:nvSpPr>
          <p:cNvPr id="34" name="Text 12">
            <a:extLst>
              <a:ext uri="{FF2B5EF4-FFF2-40B4-BE49-F238E27FC236}">
                <a16:creationId xmlns:a16="http://schemas.microsoft.com/office/drawing/2014/main" id="{2F3080B8-2451-AE53-DACE-005D014475A8}"/>
              </a:ext>
            </a:extLst>
          </p:cNvPr>
          <p:cNvSpPr/>
          <p:nvPr/>
        </p:nvSpPr>
        <p:spPr>
          <a:xfrm>
            <a:off x="7914297" y="5738913"/>
            <a:ext cx="5642610" cy="362903"/>
          </a:xfrm>
          <a:prstGeom prst="rect">
            <a:avLst/>
          </a:prstGeom>
          <a:noFill/>
          <a:ln/>
        </p:spPr>
        <p:txBody>
          <a:bodyPr wrap="none" lIns="0" tIns="0" rIns="0" bIns="0" rtlCol="0" anchor="t"/>
          <a:lstStyle/>
          <a:p>
            <a:pPr marL="0" indent="0" algn="l">
              <a:lnSpc>
                <a:spcPts val="2850"/>
              </a:lnSpc>
              <a:buNone/>
            </a:pPr>
            <a:r>
              <a:rPr lang="en-US" sz="2000" dirty="0">
                <a:solidFill>
                  <a:srgbClr val="52586B"/>
                </a:solidFill>
                <a:latin typeface="Funnel Sans" pitchFamily="34" charset="0"/>
                <a:ea typeface="Funnel Sans" pitchFamily="34" charset="-122"/>
                <a:cs typeface="Funnel Sans" pitchFamily="34" charset="-120"/>
              </a:rPr>
              <a:t>CAPTCHA and form integrity</a:t>
            </a:r>
            <a:endParaRPr lang="en-US" sz="2000" dirty="0"/>
          </a:p>
        </p:txBody>
      </p:sp>
      <p:sp>
        <p:nvSpPr>
          <p:cNvPr id="35" name="Text 13">
            <a:extLst>
              <a:ext uri="{FF2B5EF4-FFF2-40B4-BE49-F238E27FC236}">
                <a16:creationId xmlns:a16="http://schemas.microsoft.com/office/drawing/2014/main" id="{907ACF4C-E942-BCE5-10A0-361D92639369}"/>
              </a:ext>
            </a:extLst>
          </p:cNvPr>
          <p:cNvSpPr/>
          <p:nvPr/>
        </p:nvSpPr>
        <p:spPr>
          <a:xfrm>
            <a:off x="2355253" y="6406749"/>
            <a:ext cx="13042821" cy="362903"/>
          </a:xfrm>
          <a:prstGeom prst="rect">
            <a:avLst/>
          </a:prstGeom>
          <a:noFill/>
          <a:ln/>
        </p:spPr>
        <p:txBody>
          <a:bodyPr wrap="none" lIns="0" tIns="0" rIns="0" bIns="0" rtlCol="0" anchor="t"/>
          <a:lstStyle/>
          <a:p>
            <a:pPr marL="0" indent="0" algn="l">
              <a:lnSpc>
                <a:spcPts val="2850"/>
              </a:lnSpc>
              <a:buNone/>
            </a:pPr>
            <a:r>
              <a:rPr lang="en-US" sz="2000" dirty="0">
                <a:solidFill>
                  <a:srgbClr val="52586B"/>
                </a:solidFill>
                <a:latin typeface="Funnel Sans" pitchFamily="34" charset="0"/>
                <a:ea typeface="Funnel Sans" pitchFamily="34" charset="-122"/>
                <a:cs typeface="Funnel Sans" pitchFamily="34" charset="-120"/>
              </a:rPr>
              <a:t>All major bugs have been resolved, ensuring a stable and reliable platform.</a:t>
            </a:r>
            <a:endParaRPr lang="en-US" sz="2000" dirty="0"/>
          </a:p>
        </p:txBody>
      </p:sp>
      <p:pic>
        <p:nvPicPr>
          <p:cNvPr id="37" name="Picture 36">
            <a:extLst>
              <a:ext uri="{FF2B5EF4-FFF2-40B4-BE49-F238E27FC236}">
                <a16:creationId xmlns:a16="http://schemas.microsoft.com/office/drawing/2014/main" id="{9D9F9752-8EEA-C8E7-069B-60F52EF8359D}"/>
              </a:ext>
            </a:extLst>
          </p:cNvPr>
          <p:cNvPicPr>
            <a:picLocks noChangeAspect="1"/>
          </p:cNvPicPr>
          <p:nvPr/>
        </p:nvPicPr>
        <p:blipFill>
          <a:blip r:embed="rId3"/>
          <a:stretch>
            <a:fillRect/>
          </a:stretch>
        </p:blipFill>
        <p:spPr>
          <a:xfrm>
            <a:off x="0" y="19011"/>
            <a:ext cx="12192000" cy="2753521"/>
          </a:xfrm>
          <a:prstGeom prst="rect">
            <a:avLst/>
          </a:prstGeom>
        </p:spPr>
      </p:pic>
    </p:spTree>
    <p:extLst>
      <p:ext uri="{BB962C8B-B14F-4D97-AF65-F5344CB8AC3E}">
        <p14:creationId xmlns:p14="http://schemas.microsoft.com/office/powerpoint/2010/main" val="1130156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0">
            <a:extLst>
              <a:ext uri="{FF2B5EF4-FFF2-40B4-BE49-F238E27FC236}">
                <a16:creationId xmlns:a16="http://schemas.microsoft.com/office/drawing/2014/main" id="{3B534B22-039B-F299-E64C-08BEF09EF04B}"/>
              </a:ext>
            </a:extLst>
          </p:cNvPr>
          <p:cNvSpPr/>
          <p:nvPr/>
        </p:nvSpPr>
        <p:spPr>
          <a:xfrm>
            <a:off x="5123142" y="189013"/>
            <a:ext cx="7356991" cy="705564"/>
          </a:xfrm>
          <a:prstGeom prst="rect">
            <a:avLst/>
          </a:prstGeom>
          <a:noFill/>
          <a:ln/>
        </p:spPr>
        <p:txBody>
          <a:bodyPr wrap="none" lIns="0" tIns="0" rIns="0" bIns="0" rtlCol="0" anchor="t"/>
          <a:lstStyle/>
          <a:p>
            <a:pPr marL="0" indent="0" algn="l">
              <a:lnSpc>
                <a:spcPts val="5550"/>
              </a:lnSpc>
              <a:buNone/>
            </a:pPr>
            <a:r>
              <a:rPr lang="en-US" sz="4400" b="1" dirty="0">
                <a:latin typeface="Times New Roman" panose="02020603050405020304" pitchFamily="18" charset="0"/>
                <a:ea typeface="Mona Sans Semi Bold" pitchFamily="34" charset="-122"/>
                <a:cs typeface="Times New Roman" panose="02020603050405020304" pitchFamily="18" charset="0"/>
              </a:rPr>
              <a:t>Current Project Limitations</a:t>
            </a:r>
            <a:endParaRPr lang="en-US" sz="4400" b="1" dirty="0">
              <a:latin typeface="Times New Roman" panose="02020603050405020304" pitchFamily="18" charset="0"/>
              <a:cs typeface="Times New Roman" panose="02020603050405020304" pitchFamily="18" charset="0"/>
            </a:endParaRPr>
          </a:p>
        </p:txBody>
      </p:sp>
      <p:sp>
        <p:nvSpPr>
          <p:cNvPr id="6" name="Shape 1">
            <a:extLst>
              <a:ext uri="{FF2B5EF4-FFF2-40B4-BE49-F238E27FC236}">
                <a16:creationId xmlns:a16="http://schemas.microsoft.com/office/drawing/2014/main" id="{B3A22C0C-399C-233C-4C0D-BD3C5358274C}"/>
              </a:ext>
            </a:extLst>
          </p:cNvPr>
          <p:cNvSpPr/>
          <p:nvPr/>
        </p:nvSpPr>
        <p:spPr>
          <a:xfrm>
            <a:off x="5267986" y="1315046"/>
            <a:ext cx="6655428" cy="1111284"/>
          </a:xfrm>
          <a:prstGeom prst="roundRect">
            <a:avLst>
              <a:gd name="adj" fmla="val 7206"/>
            </a:avLst>
          </a:prstGeom>
          <a:solidFill>
            <a:srgbClr val="E2E4E9"/>
          </a:solidFill>
          <a:ln w="7620">
            <a:solidFill>
              <a:srgbClr val="C8CACF"/>
            </a:solidFill>
            <a:prstDash val="solid"/>
          </a:ln>
        </p:spPr>
      </p:sp>
      <p:sp>
        <p:nvSpPr>
          <p:cNvPr id="7" name="Text 2">
            <a:extLst>
              <a:ext uri="{FF2B5EF4-FFF2-40B4-BE49-F238E27FC236}">
                <a16:creationId xmlns:a16="http://schemas.microsoft.com/office/drawing/2014/main" id="{41F40CAE-DBFA-436A-385C-2A8DEA386A04}"/>
              </a:ext>
            </a:extLst>
          </p:cNvPr>
          <p:cNvSpPr/>
          <p:nvPr/>
        </p:nvSpPr>
        <p:spPr>
          <a:xfrm>
            <a:off x="5713276" y="1468338"/>
            <a:ext cx="3088362" cy="352663"/>
          </a:xfrm>
          <a:prstGeom prst="rect">
            <a:avLst/>
          </a:prstGeom>
          <a:noFill/>
          <a:ln/>
        </p:spPr>
        <p:txBody>
          <a:bodyPr wrap="none" lIns="0" tIns="0" rIns="0" bIns="0" rtlCol="0" anchor="t"/>
          <a:lstStyle/>
          <a:p>
            <a:pPr marL="0" indent="0" algn="l">
              <a:lnSpc>
                <a:spcPts val="2750"/>
              </a:lnSpc>
              <a:buNone/>
            </a:pPr>
            <a:r>
              <a:rPr lang="en-US" sz="2400" b="1" dirty="0">
                <a:solidFill>
                  <a:srgbClr val="52586B"/>
                </a:solidFill>
                <a:latin typeface="Mona Sans Semi Bold" pitchFamily="34" charset="0"/>
                <a:ea typeface="Mona Sans Semi Bold" pitchFamily="34" charset="-122"/>
                <a:cs typeface="Mona Sans Semi Bold" pitchFamily="34" charset="-120"/>
              </a:rPr>
              <a:t>No Live Order Tracking</a:t>
            </a:r>
            <a:endParaRPr lang="en-US" sz="2400" b="1" dirty="0"/>
          </a:p>
        </p:txBody>
      </p:sp>
      <p:sp>
        <p:nvSpPr>
          <p:cNvPr id="8" name="Text 3">
            <a:extLst>
              <a:ext uri="{FF2B5EF4-FFF2-40B4-BE49-F238E27FC236}">
                <a16:creationId xmlns:a16="http://schemas.microsoft.com/office/drawing/2014/main" id="{8C42D10D-05D0-7CF5-B35E-0F1F24A60BC6}"/>
              </a:ext>
            </a:extLst>
          </p:cNvPr>
          <p:cNvSpPr/>
          <p:nvPr/>
        </p:nvSpPr>
        <p:spPr>
          <a:xfrm>
            <a:off x="5713276" y="1956375"/>
            <a:ext cx="7096839" cy="361117"/>
          </a:xfrm>
          <a:prstGeom prst="rect">
            <a:avLst/>
          </a:prstGeom>
          <a:noFill/>
          <a:ln/>
        </p:spPr>
        <p:txBody>
          <a:bodyPr wrap="none" lIns="0" tIns="0" rIns="0" bIns="0" rtlCol="0" anchor="t"/>
          <a:lstStyle/>
          <a:p>
            <a:pPr marL="0" indent="0" algn="l">
              <a:lnSpc>
                <a:spcPts val="2800"/>
              </a:lnSpc>
              <a:buNone/>
            </a:pPr>
            <a:r>
              <a:rPr lang="en-US" sz="2000">
                <a:solidFill>
                  <a:srgbClr val="52586B"/>
                </a:solidFill>
                <a:latin typeface="Funnel Sans" pitchFamily="34" charset="0"/>
                <a:ea typeface="Funnel Sans" pitchFamily="34" charset="-122"/>
                <a:cs typeface="Funnel Sans" pitchFamily="34" charset="-120"/>
              </a:rPr>
              <a:t>Customer order status updates unavailable</a:t>
            </a:r>
            <a:endParaRPr lang="en-US" sz="2000" dirty="0"/>
          </a:p>
        </p:txBody>
      </p:sp>
      <p:sp>
        <p:nvSpPr>
          <p:cNvPr id="10" name="Text 5">
            <a:extLst>
              <a:ext uri="{FF2B5EF4-FFF2-40B4-BE49-F238E27FC236}">
                <a16:creationId xmlns:a16="http://schemas.microsoft.com/office/drawing/2014/main" id="{3A55F433-AAC8-AFD2-74D1-6A7E83E03D57}"/>
              </a:ext>
            </a:extLst>
          </p:cNvPr>
          <p:cNvSpPr/>
          <p:nvPr/>
        </p:nvSpPr>
        <p:spPr>
          <a:xfrm>
            <a:off x="6509980" y="3441502"/>
            <a:ext cx="2822258" cy="352663"/>
          </a:xfrm>
          <a:prstGeom prst="rect">
            <a:avLst/>
          </a:prstGeom>
          <a:noFill/>
          <a:ln/>
        </p:spPr>
        <p:txBody>
          <a:bodyPr wrap="none" lIns="0" tIns="0" rIns="0" bIns="0" rtlCol="0" anchor="t"/>
          <a:lstStyle/>
          <a:p>
            <a:pPr marL="0" indent="0" algn="l">
              <a:lnSpc>
                <a:spcPts val="2750"/>
              </a:lnSpc>
              <a:buNone/>
            </a:pPr>
            <a:endParaRPr lang="en-US" sz="2200" dirty="0"/>
          </a:p>
        </p:txBody>
      </p:sp>
      <p:sp>
        <p:nvSpPr>
          <p:cNvPr id="11" name="Text 6">
            <a:extLst>
              <a:ext uri="{FF2B5EF4-FFF2-40B4-BE49-F238E27FC236}">
                <a16:creationId xmlns:a16="http://schemas.microsoft.com/office/drawing/2014/main" id="{0A124262-87E3-59BD-1C06-E06ADC213734}"/>
              </a:ext>
            </a:extLst>
          </p:cNvPr>
          <p:cNvSpPr/>
          <p:nvPr/>
        </p:nvSpPr>
        <p:spPr>
          <a:xfrm>
            <a:off x="6509980" y="3929539"/>
            <a:ext cx="7096839" cy="361117"/>
          </a:xfrm>
          <a:prstGeom prst="rect">
            <a:avLst/>
          </a:prstGeom>
          <a:noFill/>
          <a:ln/>
        </p:spPr>
        <p:txBody>
          <a:bodyPr wrap="none" lIns="0" tIns="0" rIns="0" bIns="0" rtlCol="0" anchor="t"/>
          <a:lstStyle/>
          <a:p>
            <a:pPr marL="0" indent="0" algn="l">
              <a:lnSpc>
                <a:spcPts val="2800"/>
              </a:lnSpc>
              <a:buNone/>
            </a:pPr>
            <a:endParaRPr lang="en-US" sz="1750" dirty="0"/>
          </a:p>
        </p:txBody>
      </p:sp>
      <p:sp>
        <p:nvSpPr>
          <p:cNvPr id="13" name="Text 8">
            <a:extLst>
              <a:ext uri="{FF2B5EF4-FFF2-40B4-BE49-F238E27FC236}">
                <a16:creationId xmlns:a16="http://schemas.microsoft.com/office/drawing/2014/main" id="{0ECB22F1-CF33-FCAA-F383-DD8AB9DDE018}"/>
              </a:ext>
            </a:extLst>
          </p:cNvPr>
          <p:cNvSpPr/>
          <p:nvPr/>
        </p:nvSpPr>
        <p:spPr>
          <a:xfrm>
            <a:off x="6509980" y="4983123"/>
            <a:ext cx="2822258" cy="352663"/>
          </a:xfrm>
          <a:prstGeom prst="rect">
            <a:avLst/>
          </a:prstGeom>
          <a:noFill/>
          <a:ln/>
        </p:spPr>
        <p:txBody>
          <a:bodyPr wrap="none" lIns="0" tIns="0" rIns="0" bIns="0" rtlCol="0" anchor="t"/>
          <a:lstStyle/>
          <a:p>
            <a:pPr marL="0" indent="0" algn="l">
              <a:lnSpc>
                <a:spcPts val="2750"/>
              </a:lnSpc>
              <a:buNone/>
            </a:pPr>
            <a:endParaRPr lang="en-US" sz="2200" dirty="0"/>
          </a:p>
        </p:txBody>
      </p:sp>
      <p:sp>
        <p:nvSpPr>
          <p:cNvPr id="14" name="Text 9">
            <a:extLst>
              <a:ext uri="{FF2B5EF4-FFF2-40B4-BE49-F238E27FC236}">
                <a16:creationId xmlns:a16="http://schemas.microsoft.com/office/drawing/2014/main" id="{BB803D73-3B8C-9E99-4659-0E7B46AD51F2}"/>
              </a:ext>
            </a:extLst>
          </p:cNvPr>
          <p:cNvSpPr/>
          <p:nvPr/>
        </p:nvSpPr>
        <p:spPr>
          <a:xfrm>
            <a:off x="6509980" y="5471160"/>
            <a:ext cx="7096839" cy="361117"/>
          </a:xfrm>
          <a:prstGeom prst="rect">
            <a:avLst/>
          </a:prstGeom>
          <a:noFill/>
          <a:ln/>
        </p:spPr>
        <p:txBody>
          <a:bodyPr wrap="none" lIns="0" tIns="0" rIns="0" bIns="0" rtlCol="0" anchor="t"/>
          <a:lstStyle/>
          <a:p>
            <a:pPr marL="0" indent="0" algn="l">
              <a:lnSpc>
                <a:spcPts val="2800"/>
              </a:lnSpc>
              <a:buNone/>
            </a:pPr>
            <a:endParaRPr lang="en-US" sz="1750" dirty="0"/>
          </a:p>
        </p:txBody>
      </p:sp>
      <p:sp>
        <p:nvSpPr>
          <p:cNvPr id="16" name="Text 11">
            <a:extLst>
              <a:ext uri="{FF2B5EF4-FFF2-40B4-BE49-F238E27FC236}">
                <a16:creationId xmlns:a16="http://schemas.microsoft.com/office/drawing/2014/main" id="{0872D1DA-B83F-7CD4-4F7D-2ABB0FE11A35}"/>
              </a:ext>
            </a:extLst>
          </p:cNvPr>
          <p:cNvSpPr/>
          <p:nvPr/>
        </p:nvSpPr>
        <p:spPr>
          <a:xfrm>
            <a:off x="6509980" y="6524744"/>
            <a:ext cx="2822258" cy="352663"/>
          </a:xfrm>
          <a:prstGeom prst="rect">
            <a:avLst/>
          </a:prstGeom>
          <a:noFill/>
          <a:ln/>
        </p:spPr>
        <p:txBody>
          <a:bodyPr wrap="none" lIns="0" tIns="0" rIns="0" bIns="0" rtlCol="0" anchor="t"/>
          <a:lstStyle/>
          <a:p>
            <a:pPr marL="0" indent="0" algn="l">
              <a:lnSpc>
                <a:spcPts val="2750"/>
              </a:lnSpc>
              <a:buNone/>
            </a:pPr>
            <a:endParaRPr lang="en-US" sz="2200" dirty="0"/>
          </a:p>
        </p:txBody>
      </p:sp>
      <p:sp>
        <p:nvSpPr>
          <p:cNvPr id="19" name="Shape 1">
            <a:extLst>
              <a:ext uri="{FF2B5EF4-FFF2-40B4-BE49-F238E27FC236}">
                <a16:creationId xmlns:a16="http://schemas.microsoft.com/office/drawing/2014/main" id="{0557B703-7D88-4CEE-6E60-29D4F317A272}"/>
              </a:ext>
            </a:extLst>
          </p:cNvPr>
          <p:cNvSpPr/>
          <p:nvPr/>
        </p:nvSpPr>
        <p:spPr>
          <a:xfrm>
            <a:off x="5267986" y="2622292"/>
            <a:ext cx="6655428" cy="1111284"/>
          </a:xfrm>
          <a:prstGeom prst="roundRect">
            <a:avLst>
              <a:gd name="adj" fmla="val 7206"/>
            </a:avLst>
          </a:prstGeom>
          <a:solidFill>
            <a:srgbClr val="E2E4E9"/>
          </a:solidFill>
          <a:ln w="7620">
            <a:solidFill>
              <a:srgbClr val="C8CACF"/>
            </a:solidFill>
            <a:prstDash val="solid"/>
          </a:ln>
        </p:spPr>
      </p:sp>
      <p:sp>
        <p:nvSpPr>
          <p:cNvPr id="20" name="Text 2">
            <a:extLst>
              <a:ext uri="{FF2B5EF4-FFF2-40B4-BE49-F238E27FC236}">
                <a16:creationId xmlns:a16="http://schemas.microsoft.com/office/drawing/2014/main" id="{27683931-79ED-FB4A-A0C1-AC01805F177A}"/>
              </a:ext>
            </a:extLst>
          </p:cNvPr>
          <p:cNvSpPr/>
          <p:nvPr/>
        </p:nvSpPr>
        <p:spPr>
          <a:xfrm>
            <a:off x="5713276" y="2855566"/>
            <a:ext cx="3088362" cy="352663"/>
          </a:xfrm>
          <a:prstGeom prst="rect">
            <a:avLst/>
          </a:prstGeom>
          <a:noFill/>
          <a:ln/>
        </p:spPr>
        <p:txBody>
          <a:bodyPr wrap="none" lIns="0" tIns="0" rIns="0" bIns="0" rtlCol="0" anchor="t"/>
          <a:lstStyle/>
          <a:p>
            <a:pPr>
              <a:lnSpc>
                <a:spcPts val="2750"/>
              </a:lnSpc>
            </a:pPr>
            <a:r>
              <a:rPr lang="en-US" sz="2400" b="1" dirty="0">
                <a:solidFill>
                  <a:srgbClr val="52586B"/>
                </a:solidFill>
                <a:latin typeface="Mona Sans Semi Bold" pitchFamily="34" charset="0"/>
                <a:ea typeface="Mona Sans Semi Bold" pitchFamily="34" charset="-122"/>
                <a:cs typeface="Mona Sans Semi Bold" pitchFamily="34" charset="-120"/>
              </a:rPr>
              <a:t>Quantity Restriction</a:t>
            </a:r>
            <a:endParaRPr lang="en-US" sz="2400" b="1" dirty="0"/>
          </a:p>
          <a:p>
            <a:pPr marL="0" indent="0" algn="l">
              <a:lnSpc>
                <a:spcPts val="2750"/>
              </a:lnSpc>
              <a:buNone/>
            </a:pPr>
            <a:endParaRPr lang="en-US" sz="2400" b="1" dirty="0"/>
          </a:p>
        </p:txBody>
      </p:sp>
      <p:sp>
        <p:nvSpPr>
          <p:cNvPr id="21" name="Text 3">
            <a:extLst>
              <a:ext uri="{FF2B5EF4-FFF2-40B4-BE49-F238E27FC236}">
                <a16:creationId xmlns:a16="http://schemas.microsoft.com/office/drawing/2014/main" id="{EBC78B01-A0F8-93F5-6869-F3508D121F6D}"/>
              </a:ext>
            </a:extLst>
          </p:cNvPr>
          <p:cNvSpPr/>
          <p:nvPr/>
        </p:nvSpPr>
        <p:spPr>
          <a:xfrm>
            <a:off x="5713276" y="3204089"/>
            <a:ext cx="7096839" cy="361117"/>
          </a:xfrm>
          <a:prstGeom prst="rect">
            <a:avLst/>
          </a:prstGeom>
          <a:noFill/>
          <a:ln/>
        </p:spPr>
        <p:txBody>
          <a:bodyPr wrap="none" lIns="0" tIns="0" rIns="0" bIns="0" rtlCol="0" anchor="t"/>
          <a:lstStyle/>
          <a:p>
            <a:pPr marL="0" indent="0" algn="l">
              <a:lnSpc>
                <a:spcPts val="2800"/>
              </a:lnSpc>
              <a:buNone/>
            </a:pPr>
            <a:endParaRPr lang="en-US" sz="2000" dirty="0"/>
          </a:p>
        </p:txBody>
      </p:sp>
      <p:sp>
        <p:nvSpPr>
          <p:cNvPr id="22" name="Text 3">
            <a:extLst>
              <a:ext uri="{FF2B5EF4-FFF2-40B4-BE49-F238E27FC236}">
                <a16:creationId xmlns:a16="http://schemas.microsoft.com/office/drawing/2014/main" id="{4F84176C-B57F-4A74-18ED-DD9DEA9C307B}"/>
              </a:ext>
            </a:extLst>
          </p:cNvPr>
          <p:cNvSpPr/>
          <p:nvPr/>
        </p:nvSpPr>
        <p:spPr>
          <a:xfrm>
            <a:off x="5713276" y="3285102"/>
            <a:ext cx="7096839" cy="361117"/>
          </a:xfrm>
          <a:prstGeom prst="rect">
            <a:avLst/>
          </a:prstGeom>
          <a:noFill/>
          <a:ln/>
        </p:spPr>
        <p:txBody>
          <a:bodyPr wrap="none" lIns="0" tIns="0" rIns="0" bIns="0" rtlCol="0" anchor="t"/>
          <a:lstStyle/>
          <a:p>
            <a:pPr>
              <a:lnSpc>
                <a:spcPts val="2800"/>
              </a:lnSpc>
            </a:pPr>
            <a:r>
              <a:rPr lang="en-US" sz="2000" dirty="0">
                <a:solidFill>
                  <a:srgbClr val="52586B"/>
                </a:solidFill>
                <a:latin typeface="Funnel Sans" pitchFamily="34" charset="0"/>
                <a:ea typeface="Funnel Sans" pitchFamily="34" charset="-122"/>
                <a:cs typeface="Funnel Sans" pitchFamily="34" charset="-120"/>
              </a:rPr>
              <a:t>Product order quantity limited per transaction</a:t>
            </a:r>
            <a:endParaRPr lang="en-US" sz="2000" dirty="0"/>
          </a:p>
          <a:p>
            <a:pPr marL="0" indent="0" algn="l">
              <a:lnSpc>
                <a:spcPts val="2800"/>
              </a:lnSpc>
              <a:buNone/>
            </a:pPr>
            <a:endParaRPr lang="en-US" sz="2000" dirty="0"/>
          </a:p>
        </p:txBody>
      </p:sp>
      <p:sp>
        <p:nvSpPr>
          <p:cNvPr id="23" name="Shape 1">
            <a:extLst>
              <a:ext uri="{FF2B5EF4-FFF2-40B4-BE49-F238E27FC236}">
                <a16:creationId xmlns:a16="http://schemas.microsoft.com/office/drawing/2014/main" id="{593EAC55-8822-5C88-CEAF-D40141E086D9}"/>
              </a:ext>
            </a:extLst>
          </p:cNvPr>
          <p:cNvSpPr/>
          <p:nvPr/>
        </p:nvSpPr>
        <p:spPr>
          <a:xfrm>
            <a:off x="5286093" y="3929538"/>
            <a:ext cx="6655428" cy="1111284"/>
          </a:xfrm>
          <a:prstGeom prst="roundRect">
            <a:avLst>
              <a:gd name="adj" fmla="val 7206"/>
            </a:avLst>
          </a:prstGeom>
          <a:solidFill>
            <a:srgbClr val="E2E4E9"/>
          </a:solidFill>
          <a:ln w="7620">
            <a:solidFill>
              <a:srgbClr val="C8CACF"/>
            </a:solidFill>
            <a:prstDash val="solid"/>
          </a:ln>
        </p:spPr>
      </p:sp>
      <p:sp>
        <p:nvSpPr>
          <p:cNvPr id="24" name="Text 2">
            <a:extLst>
              <a:ext uri="{FF2B5EF4-FFF2-40B4-BE49-F238E27FC236}">
                <a16:creationId xmlns:a16="http://schemas.microsoft.com/office/drawing/2014/main" id="{F917A02E-0DEF-DDC9-8067-2481A68D6D3F}"/>
              </a:ext>
            </a:extLst>
          </p:cNvPr>
          <p:cNvSpPr/>
          <p:nvPr/>
        </p:nvSpPr>
        <p:spPr>
          <a:xfrm>
            <a:off x="5838515" y="4122873"/>
            <a:ext cx="3088362" cy="352663"/>
          </a:xfrm>
          <a:prstGeom prst="rect">
            <a:avLst/>
          </a:prstGeom>
          <a:noFill/>
          <a:ln/>
        </p:spPr>
        <p:txBody>
          <a:bodyPr wrap="none" lIns="0" tIns="0" rIns="0" bIns="0" rtlCol="0" anchor="t"/>
          <a:lstStyle/>
          <a:p>
            <a:pPr>
              <a:lnSpc>
                <a:spcPts val="2750"/>
              </a:lnSpc>
            </a:pPr>
            <a:r>
              <a:rPr lang="en-US" sz="2400" b="1" dirty="0">
                <a:solidFill>
                  <a:srgbClr val="52586B"/>
                </a:solidFill>
                <a:latin typeface="Mona Sans Semi Bold" pitchFamily="34" charset="0"/>
                <a:ea typeface="Mona Sans Semi Bold" pitchFamily="34" charset="-122"/>
                <a:cs typeface="Mona Sans Semi Bold" pitchFamily="34" charset="-120"/>
              </a:rPr>
              <a:t>No Delivery Service</a:t>
            </a:r>
            <a:endParaRPr lang="en-US" sz="2400" b="1" dirty="0"/>
          </a:p>
          <a:p>
            <a:pPr marL="0" indent="0" algn="l">
              <a:lnSpc>
                <a:spcPts val="2750"/>
              </a:lnSpc>
              <a:buNone/>
            </a:pPr>
            <a:endParaRPr lang="en-US" sz="2400" b="1" dirty="0"/>
          </a:p>
        </p:txBody>
      </p:sp>
      <p:sp>
        <p:nvSpPr>
          <p:cNvPr id="25" name="Text 3">
            <a:extLst>
              <a:ext uri="{FF2B5EF4-FFF2-40B4-BE49-F238E27FC236}">
                <a16:creationId xmlns:a16="http://schemas.microsoft.com/office/drawing/2014/main" id="{F2F51343-FE92-4362-1FAE-2469C6B95521}"/>
              </a:ext>
            </a:extLst>
          </p:cNvPr>
          <p:cNvSpPr/>
          <p:nvPr/>
        </p:nvSpPr>
        <p:spPr>
          <a:xfrm>
            <a:off x="5838515" y="4519790"/>
            <a:ext cx="7096839" cy="361117"/>
          </a:xfrm>
          <a:prstGeom prst="rect">
            <a:avLst/>
          </a:prstGeom>
          <a:noFill/>
          <a:ln/>
        </p:spPr>
        <p:txBody>
          <a:bodyPr wrap="none" lIns="0" tIns="0" rIns="0" bIns="0" rtlCol="0" anchor="t"/>
          <a:lstStyle/>
          <a:p>
            <a:pPr>
              <a:lnSpc>
                <a:spcPts val="2800"/>
              </a:lnSpc>
            </a:pPr>
            <a:r>
              <a:rPr lang="en-US" sz="2000" dirty="0">
                <a:solidFill>
                  <a:srgbClr val="52586B"/>
                </a:solidFill>
                <a:latin typeface="Funnel Sans" pitchFamily="34" charset="0"/>
                <a:ea typeface="Funnel Sans" pitchFamily="34" charset="-122"/>
                <a:cs typeface="Funnel Sans" pitchFamily="34" charset="-120"/>
              </a:rPr>
              <a:t>Customers must pick up orders</a:t>
            </a:r>
            <a:endParaRPr lang="en-US" sz="2000" dirty="0"/>
          </a:p>
          <a:p>
            <a:pPr marL="0" indent="0" algn="l">
              <a:lnSpc>
                <a:spcPts val="2800"/>
              </a:lnSpc>
              <a:buNone/>
            </a:pPr>
            <a:endParaRPr lang="en-US" sz="2000" dirty="0"/>
          </a:p>
        </p:txBody>
      </p:sp>
      <p:sp>
        <p:nvSpPr>
          <p:cNvPr id="26" name="Shape 1">
            <a:extLst>
              <a:ext uri="{FF2B5EF4-FFF2-40B4-BE49-F238E27FC236}">
                <a16:creationId xmlns:a16="http://schemas.microsoft.com/office/drawing/2014/main" id="{3E1A2944-8AC0-8648-2512-095E3FD91979}"/>
              </a:ext>
            </a:extLst>
          </p:cNvPr>
          <p:cNvSpPr/>
          <p:nvPr/>
        </p:nvSpPr>
        <p:spPr>
          <a:xfrm>
            <a:off x="5267986" y="5234156"/>
            <a:ext cx="6655428" cy="1111284"/>
          </a:xfrm>
          <a:prstGeom prst="roundRect">
            <a:avLst>
              <a:gd name="adj" fmla="val 7206"/>
            </a:avLst>
          </a:prstGeom>
          <a:solidFill>
            <a:srgbClr val="E2E4E9"/>
          </a:solidFill>
          <a:ln w="7620">
            <a:solidFill>
              <a:srgbClr val="C8CACF"/>
            </a:solidFill>
            <a:prstDash val="solid"/>
          </a:ln>
        </p:spPr>
      </p:sp>
      <p:sp>
        <p:nvSpPr>
          <p:cNvPr id="27" name="Text 2">
            <a:extLst>
              <a:ext uri="{FF2B5EF4-FFF2-40B4-BE49-F238E27FC236}">
                <a16:creationId xmlns:a16="http://schemas.microsoft.com/office/drawing/2014/main" id="{1ACAA1D2-038D-72F2-AE62-BB047EE139B0}"/>
              </a:ext>
            </a:extLst>
          </p:cNvPr>
          <p:cNvSpPr/>
          <p:nvPr/>
        </p:nvSpPr>
        <p:spPr>
          <a:xfrm>
            <a:off x="5838515" y="5405155"/>
            <a:ext cx="3088362" cy="352663"/>
          </a:xfrm>
          <a:prstGeom prst="rect">
            <a:avLst/>
          </a:prstGeom>
          <a:noFill/>
          <a:ln/>
        </p:spPr>
        <p:txBody>
          <a:bodyPr wrap="none" lIns="0" tIns="0" rIns="0" bIns="0" rtlCol="0" anchor="t"/>
          <a:lstStyle/>
          <a:p>
            <a:pPr marL="0" indent="0" algn="l">
              <a:lnSpc>
                <a:spcPts val="2750"/>
              </a:lnSpc>
              <a:buNone/>
            </a:pPr>
            <a:endParaRPr lang="en-US" sz="2400" b="1" dirty="0"/>
          </a:p>
        </p:txBody>
      </p:sp>
      <p:sp>
        <p:nvSpPr>
          <p:cNvPr id="28" name="Text 2">
            <a:extLst>
              <a:ext uri="{FF2B5EF4-FFF2-40B4-BE49-F238E27FC236}">
                <a16:creationId xmlns:a16="http://schemas.microsoft.com/office/drawing/2014/main" id="{65F97944-6C0C-DC7D-13E6-314A50BD51C5}"/>
              </a:ext>
            </a:extLst>
          </p:cNvPr>
          <p:cNvSpPr/>
          <p:nvPr/>
        </p:nvSpPr>
        <p:spPr>
          <a:xfrm>
            <a:off x="5838515" y="5366622"/>
            <a:ext cx="3088362" cy="352663"/>
          </a:xfrm>
          <a:prstGeom prst="rect">
            <a:avLst/>
          </a:prstGeom>
          <a:noFill/>
          <a:ln/>
        </p:spPr>
        <p:txBody>
          <a:bodyPr wrap="none" lIns="0" tIns="0" rIns="0" bIns="0" rtlCol="0" anchor="t"/>
          <a:lstStyle/>
          <a:p>
            <a:pPr>
              <a:lnSpc>
                <a:spcPts val="2750"/>
              </a:lnSpc>
            </a:pPr>
            <a:r>
              <a:rPr lang="en-US" sz="2400" b="1" dirty="0">
                <a:solidFill>
                  <a:srgbClr val="52586B"/>
                </a:solidFill>
                <a:latin typeface="Mona Sans Semi Bold" pitchFamily="34" charset="0"/>
                <a:ea typeface="Mona Sans Semi Bold" pitchFamily="34" charset="-122"/>
                <a:cs typeface="Mona Sans Semi Bold" pitchFamily="34" charset="-120"/>
              </a:rPr>
              <a:t>No Mobile App</a:t>
            </a:r>
            <a:endParaRPr lang="en-US" sz="2400" b="1" dirty="0"/>
          </a:p>
          <a:p>
            <a:pPr marL="0" indent="0" algn="l">
              <a:lnSpc>
                <a:spcPts val="2750"/>
              </a:lnSpc>
              <a:buNone/>
            </a:pPr>
            <a:endParaRPr lang="en-US" sz="2400" b="1" dirty="0"/>
          </a:p>
        </p:txBody>
      </p:sp>
      <p:sp>
        <p:nvSpPr>
          <p:cNvPr id="29" name="Text 3">
            <a:extLst>
              <a:ext uri="{FF2B5EF4-FFF2-40B4-BE49-F238E27FC236}">
                <a16:creationId xmlns:a16="http://schemas.microsoft.com/office/drawing/2014/main" id="{992F06E9-F4DC-1BC4-6574-84429CC73655}"/>
              </a:ext>
            </a:extLst>
          </p:cNvPr>
          <p:cNvSpPr/>
          <p:nvPr/>
        </p:nvSpPr>
        <p:spPr>
          <a:xfrm>
            <a:off x="5838515" y="5732060"/>
            <a:ext cx="7096839" cy="361117"/>
          </a:xfrm>
          <a:prstGeom prst="rect">
            <a:avLst/>
          </a:prstGeom>
          <a:noFill/>
          <a:ln/>
        </p:spPr>
        <p:txBody>
          <a:bodyPr wrap="none" lIns="0" tIns="0" rIns="0" bIns="0" rtlCol="0" anchor="t"/>
          <a:lstStyle/>
          <a:p>
            <a:pPr>
              <a:lnSpc>
                <a:spcPts val="2800"/>
              </a:lnSpc>
            </a:pPr>
            <a:r>
              <a:rPr lang="en-US" sz="2000" dirty="0">
                <a:solidFill>
                  <a:srgbClr val="52586B"/>
                </a:solidFill>
                <a:latin typeface="Funnel Sans" pitchFamily="34" charset="0"/>
                <a:ea typeface="Funnel Sans" pitchFamily="34" charset="-122"/>
                <a:cs typeface="Funnel Sans" pitchFamily="34" charset="-120"/>
              </a:rPr>
              <a:t>Platform not accessible via dedicated mobile app</a:t>
            </a:r>
            <a:endParaRPr lang="en-US" sz="2000" dirty="0"/>
          </a:p>
          <a:p>
            <a:pPr marL="0" indent="0" algn="l">
              <a:lnSpc>
                <a:spcPts val="2800"/>
              </a:lnSpc>
              <a:buNone/>
            </a:pPr>
            <a:endParaRPr lang="en-US" sz="2000" dirty="0"/>
          </a:p>
        </p:txBody>
      </p:sp>
      <p:pic>
        <p:nvPicPr>
          <p:cNvPr id="31" name="Picture 30">
            <a:extLst>
              <a:ext uri="{FF2B5EF4-FFF2-40B4-BE49-F238E27FC236}">
                <a16:creationId xmlns:a16="http://schemas.microsoft.com/office/drawing/2014/main" id="{443B12F3-4354-61EC-9945-7CE5AF7CAA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801" y="36629"/>
            <a:ext cx="4964678" cy="6840778"/>
          </a:xfrm>
          <a:prstGeom prst="rect">
            <a:avLst/>
          </a:prstGeom>
        </p:spPr>
      </p:pic>
    </p:spTree>
    <p:extLst>
      <p:ext uri="{BB962C8B-B14F-4D97-AF65-F5344CB8AC3E}">
        <p14:creationId xmlns:p14="http://schemas.microsoft.com/office/powerpoint/2010/main" val="19730559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0">
            <a:extLst>
              <a:ext uri="{FF2B5EF4-FFF2-40B4-BE49-F238E27FC236}">
                <a16:creationId xmlns:a16="http://schemas.microsoft.com/office/drawing/2014/main" id="{B936A7FC-2FA5-6DBE-9139-D4515F49EBB5}"/>
              </a:ext>
            </a:extLst>
          </p:cNvPr>
          <p:cNvSpPr/>
          <p:nvPr/>
        </p:nvSpPr>
        <p:spPr>
          <a:xfrm>
            <a:off x="1687099" y="247622"/>
            <a:ext cx="8817801" cy="1341060"/>
          </a:xfrm>
          <a:prstGeom prst="rect">
            <a:avLst/>
          </a:prstGeom>
          <a:noFill/>
          <a:ln/>
        </p:spPr>
        <p:txBody>
          <a:bodyPr wrap="square" lIns="0" tIns="0" rIns="0" bIns="0" rtlCol="0" anchor="t"/>
          <a:lstStyle/>
          <a:p>
            <a:pPr marL="0" indent="0" algn="l">
              <a:lnSpc>
                <a:spcPts val="5550"/>
              </a:lnSpc>
              <a:buNone/>
            </a:pPr>
            <a:r>
              <a:rPr lang="en-US" sz="4450" b="1" dirty="0">
                <a:latin typeface="Times New Roman" panose="02020603050405020304" pitchFamily="18" charset="0"/>
                <a:ea typeface="Mona Sans Semi Bold" pitchFamily="34" charset="-122"/>
                <a:cs typeface="Times New Roman" panose="02020603050405020304" pitchFamily="18" charset="0"/>
              </a:rPr>
              <a:t>Scope-Expanding Project Horizons</a:t>
            </a:r>
            <a:endParaRPr lang="en-US" sz="4450" b="1" dirty="0">
              <a:latin typeface="Times New Roman" panose="02020603050405020304" pitchFamily="18" charset="0"/>
              <a:cs typeface="Times New Roman" panose="02020603050405020304" pitchFamily="18" charset="0"/>
            </a:endParaRPr>
          </a:p>
        </p:txBody>
      </p:sp>
      <p:sp>
        <p:nvSpPr>
          <p:cNvPr id="6" name="Shape 1">
            <a:extLst>
              <a:ext uri="{FF2B5EF4-FFF2-40B4-BE49-F238E27FC236}">
                <a16:creationId xmlns:a16="http://schemas.microsoft.com/office/drawing/2014/main" id="{724337B3-DB04-17D7-FBA6-8C3DD82FC3A8}"/>
              </a:ext>
            </a:extLst>
          </p:cNvPr>
          <p:cNvSpPr/>
          <p:nvPr/>
        </p:nvSpPr>
        <p:spPr>
          <a:xfrm>
            <a:off x="576507" y="2001798"/>
            <a:ext cx="170021" cy="853321"/>
          </a:xfrm>
          <a:prstGeom prst="roundRect">
            <a:avLst>
              <a:gd name="adj" fmla="val 56033"/>
            </a:avLst>
          </a:prstGeom>
          <a:solidFill>
            <a:srgbClr val="E2E4E9"/>
          </a:solidFill>
          <a:ln w="7620">
            <a:solidFill>
              <a:srgbClr val="C8CACF"/>
            </a:solidFill>
            <a:prstDash val="solid"/>
          </a:ln>
        </p:spPr>
      </p:sp>
      <p:sp>
        <p:nvSpPr>
          <p:cNvPr id="7" name="Text 2">
            <a:extLst>
              <a:ext uri="{FF2B5EF4-FFF2-40B4-BE49-F238E27FC236}">
                <a16:creationId xmlns:a16="http://schemas.microsoft.com/office/drawing/2014/main" id="{B4984191-4C32-EFE6-EDA6-24D90338B85E}"/>
              </a:ext>
            </a:extLst>
          </p:cNvPr>
          <p:cNvSpPr/>
          <p:nvPr/>
        </p:nvSpPr>
        <p:spPr>
          <a:xfrm>
            <a:off x="1086690" y="2001798"/>
            <a:ext cx="3081695" cy="354330"/>
          </a:xfrm>
          <a:prstGeom prst="rect">
            <a:avLst/>
          </a:prstGeom>
          <a:noFill/>
          <a:ln/>
        </p:spPr>
        <p:txBody>
          <a:bodyPr wrap="none" lIns="0" tIns="0" rIns="0" bIns="0" rtlCol="0" anchor="t"/>
          <a:lstStyle/>
          <a:p>
            <a:pPr marL="0" indent="0" algn="l">
              <a:lnSpc>
                <a:spcPts val="2750"/>
              </a:lnSpc>
              <a:buNone/>
            </a:pPr>
            <a:r>
              <a:rPr lang="en-US" sz="2500" b="1" dirty="0">
                <a:latin typeface="Mona Sans Semi Bold" pitchFamily="34" charset="0"/>
                <a:ea typeface="Mona Sans Semi Bold" pitchFamily="34" charset="-122"/>
                <a:cs typeface="Mona Sans Semi Bold" pitchFamily="34" charset="-120"/>
              </a:rPr>
              <a:t>New Employee Module</a:t>
            </a:r>
            <a:endParaRPr lang="en-US" sz="2500" b="1" dirty="0"/>
          </a:p>
        </p:txBody>
      </p:sp>
      <p:sp>
        <p:nvSpPr>
          <p:cNvPr id="8" name="Text 3">
            <a:extLst>
              <a:ext uri="{FF2B5EF4-FFF2-40B4-BE49-F238E27FC236}">
                <a16:creationId xmlns:a16="http://schemas.microsoft.com/office/drawing/2014/main" id="{20062815-3CD3-5903-43EB-77B4A9F4C580}"/>
              </a:ext>
            </a:extLst>
          </p:cNvPr>
          <p:cNvSpPr/>
          <p:nvPr/>
        </p:nvSpPr>
        <p:spPr>
          <a:xfrm>
            <a:off x="1086690" y="2492216"/>
            <a:ext cx="7046238" cy="362903"/>
          </a:xfrm>
          <a:prstGeom prst="rect">
            <a:avLst/>
          </a:prstGeom>
          <a:noFill/>
          <a:ln/>
        </p:spPr>
        <p:txBody>
          <a:bodyPr wrap="none" lIns="0" tIns="0" rIns="0" bIns="0" rtlCol="0" anchor="t"/>
          <a:lstStyle/>
          <a:p>
            <a:pPr marL="0" indent="0" algn="l">
              <a:lnSpc>
                <a:spcPts val="2850"/>
              </a:lnSpc>
              <a:buNone/>
            </a:pPr>
            <a:r>
              <a:rPr lang="en-US" sz="2200" dirty="0">
                <a:solidFill>
                  <a:srgbClr val="52586B"/>
                </a:solidFill>
                <a:latin typeface="Funnel Sans" pitchFamily="34" charset="0"/>
                <a:ea typeface="Funnel Sans" pitchFamily="34" charset="-122"/>
                <a:cs typeface="Funnel Sans" pitchFamily="34" charset="-120"/>
              </a:rPr>
              <a:t>Streamline internal user management</a:t>
            </a:r>
            <a:endParaRPr lang="en-US" sz="2200" dirty="0"/>
          </a:p>
        </p:txBody>
      </p:sp>
      <p:sp>
        <p:nvSpPr>
          <p:cNvPr id="9" name="Shape 4">
            <a:extLst>
              <a:ext uri="{FF2B5EF4-FFF2-40B4-BE49-F238E27FC236}">
                <a16:creationId xmlns:a16="http://schemas.microsoft.com/office/drawing/2014/main" id="{386C8F53-E06C-952E-7F2D-C809485CFB77}"/>
              </a:ext>
            </a:extLst>
          </p:cNvPr>
          <p:cNvSpPr/>
          <p:nvPr/>
        </p:nvSpPr>
        <p:spPr>
          <a:xfrm>
            <a:off x="576506" y="3576297"/>
            <a:ext cx="170021" cy="853321"/>
          </a:xfrm>
          <a:prstGeom prst="roundRect">
            <a:avLst>
              <a:gd name="adj" fmla="val 56033"/>
            </a:avLst>
          </a:prstGeom>
          <a:solidFill>
            <a:srgbClr val="E2E4E9"/>
          </a:solidFill>
          <a:ln w="7620">
            <a:solidFill>
              <a:srgbClr val="C8CACF"/>
            </a:solidFill>
            <a:prstDash val="solid"/>
          </a:ln>
        </p:spPr>
      </p:sp>
      <p:sp>
        <p:nvSpPr>
          <p:cNvPr id="10" name="Text 5">
            <a:extLst>
              <a:ext uri="{FF2B5EF4-FFF2-40B4-BE49-F238E27FC236}">
                <a16:creationId xmlns:a16="http://schemas.microsoft.com/office/drawing/2014/main" id="{9ECBB314-3A14-06E3-4311-35CD1FEAD82C}"/>
              </a:ext>
            </a:extLst>
          </p:cNvPr>
          <p:cNvSpPr/>
          <p:nvPr/>
        </p:nvSpPr>
        <p:spPr>
          <a:xfrm>
            <a:off x="1042398" y="3659438"/>
            <a:ext cx="3312319" cy="354330"/>
          </a:xfrm>
          <a:prstGeom prst="rect">
            <a:avLst/>
          </a:prstGeom>
          <a:noFill/>
          <a:ln/>
        </p:spPr>
        <p:txBody>
          <a:bodyPr wrap="none" lIns="0" tIns="0" rIns="0" bIns="0" rtlCol="0" anchor="t"/>
          <a:lstStyle/>
          <a:p>
            <a:pPr marL="0" indent="0" algn="l">
              <a:lnSpc>
                <a:spcPts val="2750"/>
              </a:lnSpc>
              <a:buNone/>
            </a:pPr>
            <a:r>
              <a:rPr lang="en-US" sz="2500" b="1" dirty="0">
                <a:latin typeface="Mona Sans Semi Bold" pitchFamily="34" charset="0"/>
                <a:ea typeface="Mona Sans Semi Bold" pitchFamily="34" charset="-122"/>
                <a:cs typeface="Mona Sans Semi Bold" pitchFamily="34" charset="-120"/>
              </a:rPr>
              <a:t>Online Payment Method</a:t>
            </a:r>
            <a:endParaRPr lang="en-US" sz="2500" b="1" dirty="0"/>
          </a:p>
        </p:txBody>
      </p:sp>
      <p:sp>
        <p:nvSpPr>
          <p:cNvPr id="11" name="Text 6">
            <a:extLst>
              <a:ext uri="{FF2B5EF4-FFF2-40B4-BE49-F238E27FC236}">
                <a16:creationId xmlns:a16="http://schemas.microsoft.com/office/drawing/2014/main" id="{3BD7144D-34DA-5F58-DEAF-4EEF79A678EF}"/>
              </a:ext>
            </a:extLst>
          </p:cNvPr>
          <p:cNvSpPr/>
          <p:nvPr/>
        </p:nvSpPr>
        <p:spPr>
          <a:xfrm>
            <a:off x="1045971" y="4054759"/>
            <a:ext cx="6706076" cy="362903"/>
          </a:xfrm>
          <a:prstGeom prst="rect">
            <a:avLst/>
          </a:prstGeom>
          <a:noFill/>
          <a:ln/>
        </p:spPr>
        <p:txBody>
          <a:bodyPr wrap="none" lIns="0" tIns="0" rIns="0" bIns="0" rtlCol="0" anchor="t"/>
          <a:lstStyle/>
          <a:p>
            <a:pPr marL="0" indent="0" algn="l">
              <a:lnSpc>
                <a:spcPts val="2850"/>
              </a:lnSpc>
              <a:buNone/>
            </a:pPr>
            <a:r>
              <a:rPr lang="en-US" sz="2200" dirty="0">
                <a:solidFill>
                  <a:srgbClr val="52586B"/>
                </a:solidFill>
                <a:latin typeface="Funnel Sans" pitchFamily="34" charset="0"/>
                <a:ea typeface="Funnel Sans" pitchFamily="34" charset="-122"/>
                <a:cs typeface="Funnel Sans" pitchFamily="34" charset="-120"/>
              </a:rPr>
              <a:t>Enable secure digital transactions</a:t>
            </a:r>
            <a:endParaRPr lang="en-US" sz="2200" dirty="0"/>
          </a:p>
        </p:txBody>
      </p:sp>
      <p:sp>
        <p:nvSpPr>
          <p:cNvPr id="12" name="Shape 7">
            <a:extLst>
              <a:ext uri="{FF2B5EF4-FFF2-40B4-BE49-F238E27FC236}">
                <a16:creationId xmlns:a16="http://schemas.microsoft.com/office/drawing/2014/main" id="{FF8C80A8-6C02-3E22-5AC6-FDD3FAB61982}"/>
              </a:ext>
            </a:extLst>
          </p:cNvPr>
          <p:cNvSpPr/>
          <p:nvPr/>
        </p:nvSpPr>
        <p:spPr>
          <a:xfrm>
            <a:off x="601025" y="5248866"/>
            <a:ext cx="170021" cy="853321"/>
          </a:xfrm>
          <a:prstGeom prst="roundRect">
            <a:avLst>
              <a:gd name="adj" fmla="val 56033"/>
            </a:avLst>
          </a:prstGeom>
          <a:solidFill>
            <a:srgbClr val="E2E4E9"/>
          </a:solidFill>
          <a:ln w="7620">
            <a:solidFill>
              <a:srgbClr val="C8CACF"/>
            </a:solidFill>
            <a:prstDash val="solid"/>
          </a:ln>
        </p:spPr>
      </p:sp>
      <p:sp>
        <p:nvSpPr>
          <p:cNvPr id="13" name="Text 8">
            <a:extLst>
              <a:ext uri="{FF2B5EF4-FFF2-40B4-BE49-F238E27FC236}">
                <a16:creationId xmlns:a16="http://schemas.microsoft.com/office/drawing/2014/main" id="{876E00DA-E7AA-BE09-6B8A-416FC5752F2C}"/>
              </a:ext>
            </a:extLst>
          </p:cNvPr>
          <p:cNvSpPr/>
          <p:nvPr/>
        </p:nvSpPr>
        <p:spPr>
          <a:xfrm>
            <a:off x="985487" y="5321196"/>
            <a:ext cx="2835235" cy="354330"/>
          </a:xfrm>
          <a:prstGeom prst="rect">
            <a:avLst/>
          </a:prstGeom>
          <a:noFill/>
          <a:ln/>
        </p:spPr>
        <p:txBody>
          <a:bodyPr wrap="none" lIns="0" tIns="0" rIns="0" bIns="0" rtlCol="0" anchor="t"/>
          <a:lstStyle/>
          <a:p>
            <a:pPr marL="0" indent="0" algn="l">
              <a:lnSpc>
                <a:spcPts val="2750"/>
              </a:lnSpc>
              <a:buNone/>
            </a:pPr>
            <a:r>
              <a:rPr lang="en-US" sz="2500" b="1" dirty="0">
                <a:latin typeface="Mona Sans Semi Bold" pitchFamily="34" charset="0"/>
                <a:ea typeface="Mona Sans Semi Bold" pitchFamily="34" charset="-122"/>
                <a:cs typeface="Mona Sans Semi Bold" pitchFamily="34" charset="-120"/>
              </a:rPr>
              <a:t>Enhanced Analytics</a:t>
            </a:r>
            <a:endParaRPr lang="en-US" sz="2500" b="1" dirty="0"/>
          </a:p>
        </p:txBody>
      </p:sp>
      <p:sp>
        <p:nvSpPr>
          <p:cNvPr id="14" name="Text 9">
            <a:extLst>
              <a:ext uri="{FF2B5EF4-FFF2-40B4-BE49-F238E27FC236}">
                <a16:creationId xmlns:a16="http://schemas.microsoft.com/office/drawing/2014/main" id="{2DE3A0CC-A9A2-57DB-CCDC-A9DCF18CF19A}"/>
              </a:ext>
            </a:extLst>
          </p:cNvPr>
          <p:cNvSpPr/>
          <p:nvPr/>
        </p:nvSpPr>
        <p:spPr>
          <a:xfrm>
            <a:off x="985487" y="5675526"/>
            <a:ext cx="6365796" cy="362903"/>
          </a:xfrm>
          <a:prstGeom prst="rect">
            <a:avLst/>
          </a:prstGeom>
          <a:noFill/>
          <a:ln/>
        </p:spPr>
        <p:txBody>
          <a:bodyPr wrap="none" lIns="0" tIns="0" rIns="0" bIns="0" rtlCol="0" anchor="t"/>
          <a:lstStyle/>
          <a:p>
            <a:pPr marL="0" indent="0" algn="l">
              <a:lnSpc>
                <a:spcPts val="2850"/>
              </a:lnSpc>
              <a:buNone/>
            </a:pPr>
            <a:r>
              <a:rPr lang="en-US" sz="2200" dirty="0">
                <a:solidFill>
                  <a:srgbClr val="52586B"/>
                </a:solidFill>
                <a:latin typeface="Funnel Sans" pitchFamily="34" charset="0"/>
                <a:ea typeface="Funnel Sans" pitchFamily="34" charset="-122"/>
                <a:cs typeface="Funnel Sans" pitchFamily="34" charset="-120"/>
              </a:rPr>
              <a:t>Improve reporting and data insights</a:t>
            </a:r>
            <a:endParaRPr lang="en-US" sz="2200" dirty="0"/>
          </a:p>
        </p:txBody>
      </p:sp>
      <p:pic>
        <p:nvPicPr>
          <p:cNvPr id="16" name="Picture 15">
            <a:extLst>
              <a:ext uri="{FF2B5EF4-FFF2-40B4-BE49-F238E27FC236}">
                <a16:creationId xmlns:a16="http://schemas.microsoft.com/office/drawing/2014/main" id="{9A479E69-11FA-63C8-A277-B34F2F9F69C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59288" y="2001798"/>
            <a:ext cx="5010849" cy="4572638"/>
          </a:xfrm>
          <a:prstGeom prst="rect">
            <a:avLst/>
          </a:prstGeom>
        </p:spPr>
      </p:pic>
    </p:spTree>
    <p:extLst>
      <p:ext uri="{BB962C8B-B14F-4D97-AF65-F5344CB8AC3E}">
        <p14:creationId xmlns:p14="http://schemas.microsoft.com/office/powerpoint/2010/main" val="37672150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4042C52-F965-8B36-97DD-91A9F64EC035}"/>
              </a:ext>
            </a:extLst>
          </p:cNvPr>
          <p:cNvSpPr txBox="1"/>
          <p:nvPr/>
        </p:nvSpPr>
        <p:spPr>
          <a:xfrm>
            <a:off x="496388" y="751344"/>
            <a:ext cx="11199223" cy="5570756"/>
          </a:xfrm>
          <a:prstGeom prst="rect">
            <a:avLst/>
          </a:prstGeom>
          <a:noFill/>
        </p:spPr>
        <p:txBody>
          <a:bodyPr wrap="square">
            <a:spAutoFit/>
          </a:bodyPr>
          <a:lstStyle/>
          <a:p>
            <a:r>
              <a:rPr lang="en-US" sz="4400" b="1" dirty="0">
                <a:latin typeface="Times New Roman" panose="02020603050405020304" pitchFamily="18" charset="0"/>
                <a:cs typeface="Times New Roman" panose="02020603050405020304" pitchFamily="18" charset="0"/>
              </a:rPr>
              <a:t>                  		CONCLUSION</a:t>
            </a:r>
          </a:p>
          <a:p>
            <a:endParaRPr lang="en-US" sz="2600" b="1" dirty="0">
              <a:latin typeface="Times New Roman" panose="02020603050405020304" pitchFamily="18" charset="0"/>
              <a:cs typeface="Times New Roman" panose="02020603050405020304" pitchFamily="18" charset="0"/>
            </a:endParaRPr>
          </a:p>
          <a:p>
            <a:r>
              <a:rPr lang="en-US" sz="2600" dirty="0" err="1">
                <a:latin typeface="Times New Roman" panose="02020603050405020304" pitchFamily="18" charset="0"/>
                <a:cs typeface="Times New Roman" panose="02020603050405020304" pitchFamily="18" charset="0"/>
              </a:rPr>
              <a:t>AgroBoost</a:t>
            </a:r>
            <a:r>
              <a:rPr lang="en-US" sz="2600" dirty="0">
                <a:latin typeface="Times New Roman" panose="02020603050405020304" pitchFamily="18" charset="0"/>
                <a:cs typeface="Times New Roman" panose="02020603050405020304" pitchFamily="18" charset="0"/>
              </a:rPr>
              <a:t> is a client-based agricultural e-commerce platform designed to streamline product and user management for small-scale vendors and provide a simple ordering system for customers. Built using </a:t>
            </a:r>
            <a:r>
              <a:rPr lang="en-US" sz="2600" b="1" dirty="0">
                <a:latin typeface="Times New Roman" panose="02020603050405020304" pitchFamily="18" charset="0"/>
                <a:cs typeface="Times New Roman" panose="02020603050405020304" pitchFamily="18" charset="0"/>
              </a:rPr>
              <a:t>PHP</a:t>
            </a:r>
            <a:r>
              <a:rPr lang="en-US" sz="2600" dirty="0">
                <a:latin typeface="Times New Roman" panose="02020603050405020304" pitchFamily="18" charset="0"/>
                <a:cs typeface="Times New Roman" panose="02020603050405020304" pitchFamily="18" charset="0"/>
              </a:rPr>
              <a:t>, </a:t>
            </a:r>
            <a:r>
              <a:rPr lang="en-US" sz="2600" b="1" dirty="0">
                <a:latin typeface="Times New Roman" panose="02020603050405020304" pitchFamily="18" charset="0"/>
                <a:cs typeface="Times New Roman" panose="02020603050405020304" pitchFamily="18" charset="0"/>
              </a:rPr>
              <a:t>MySQL</a:t>
            </a:r>
            <a:r>
              <a:rPr lang="en-US" sz="2600" dirty="0">
                <a:latin typeface="Times New Roman" panose="02020603050405020304" pitchFamily="18" charset="0"/>
                <a:cs typeface="Times New Roman" panose="02020603050405020304" pitchFamily="18" charset="0"/>
              </a:rPr>
              <a:t>, </a:t>
            </a:r>
            <a:r>
              <a:rPr lang="en-US" sz="2600" b="1" dirty="0">
                <a:latin typeface="Times New Roman" panose="02020603050405020304" pitchFamily="18" charset="0"/>
                <a:cs typeface="Times New Roman" panose="02020603050405020304" pitchFamily="18" charset="0"/>
              </a:rPr>
              <a:t>HTML</a:t>
            </a:r>
            <a:r>
              <a:rPr lang="en-US" sz="2600" dirty="0">
                <a:latin typeface="Times New Roman" panose="02020603050405020304" pitchFamily="18" charset="0"/>
                <a:cs typeface="Times New Roman" panose="02020603050405020304" pitchFamily="18" charset="0"/>
              </a:rPr>
              <a:t>, </a:t>
            </a:r>
            <a:r>
              <a:rPr lang="en-US" sz="2600" b="1" dirty="0">
                <a:latin typeface="Times New Roman" panose="02020603050405020304" pitchFamily="18" charset="0"/>
                <a:cs typeface="Times New Roman" panose="02020603050405020304" pitchFamily="18" charset="0"/>
              </a:rPr>
              <a:t>CSS</a:t>
            </a:r>
            <a:r>
              <a:rPr lang="en-US" sz="2600" dirty="0">
                <a:latin typeface="Times New Roman" panose="02020603050405020304" pitchFamily="18" charset="0"/>
                <a:cs typeface="Times New Roman" panose="02020603050405020304" pitchFamily="18" charset="0"/>
              </a:rPr>
              <a:t>, and </a:t>
            </a:r>
            <a:r>
              <a:rPr lang="en-US" sz="2600" b="1" dirty="0">
                <a:latin typeface="Times New Roman" panose="02020603050405020304" pitchFamily="18" charset="0"/>
                <a:cs typeface="Times New Roman" panose="02020603050405020304" pitchFamily="18" charset="0"/>
              </a:rPr>
              <a:t>JavaScript</a:t>
            </a:r>
            <a:r>
              <a:rPr lang="en-US" sz="2600" dirty="0">
                <a:latin typeface="Times New Roman" panose="02020603050405020304" pitchFamily="18" charset="0"/>
                <a:cs typeface="Times New Roman" panose="02020603050405020304" pitchFamily="18" charset="0"/>
              </a:rPr>
              <a:t>, the system allows the client (admin) to </a:t>
            </a:r>
            <a:r>
              <a:rPr lang="en-US" sz="2600" b="1" dirty="0">
                <a:latin typeface="Times New Roman" panose="02020603050405020304" pitchFamily="18" charset="0"/>
                <a:cs typeface="Times New Roman" panose="02020603050405020304" pitchFamily="18" charset="0"/>
              </a:rPr>
              <a:t>add, delete, and update products</a:t>
            </a:r>
            <a:r>
              <a:rPr lang="en-US" sz="2600" dirty="0">
                <a:latin typeface="Times New Roman" panose="02020603050405020304" pitchFamily="18" charset="0"/>
                <a:cs typeface="Times New Roman" panose="02020603050405020304" pitchFamily="18" charset="0"/>
              </a:rPr>
              <a:t>, </a:t>
            </a:r>
            <a:r>
              <a:rPr lang="en-US" sz="2600" b="1" dirty="0">
                <a:latin typeface="Times New Roman" panose="02020603050405020304" pitchFamily="18" charset="0"/>
                <a:cs typeface="Times New Roman" panose="02020603050405020304" pitchFamily="18" charset="0"/>
              </a:rPr>
              <a:t>manage users</a:t>
            </a:r>
            <a:r>
              <a:rPr lang="en-US" sz="2600" dirty="0">
                <a:latin typeface="Times New Roman" panose="02020603050405020304" pitchFamily="18" charset="0"/>
                <a:cs typeface="Times New Roman" panose="02020603050405020304" pitchFamily="18" charset="0"/>
              </a:rPr>
              <a:t>, and </a:t>
            </a:r>
            <a:r>
              <a:rPr lang="en-US" sz="2600" b="1" dirty="0">
                <a:latin typeface="Times New Roman" panose="02020603050405020304" pitchFamily="18" charset="0"/>
                <a:cs typeface="Times New Roman" panose="02020603050405020304" pitchFamily="18" charset="0"/>
              </a:rPr>
              <a:t>track and update orders</a:t>
            </a:r>
            <a:r>
              <a:rPr lang="en-US" sz="2600" dirty="0">
                <a:latin typeface="Times New Roman" panose="02020603050405020304" pitchFamily="18" charset="0"/>
                <a:cs typeface="Times New Roman" panose="02020603050405020304" pitchFamily="18" charset="0"/>
              </a:rPr>
              <a:t> efficiently. Customers can </a:t>
            </a:r>
            <a:r>
              <a:rPr lang="en-US" sz="2600" b="1" dirty="0">
                <a:latin typeface="Times New Roman" panose="02020603050405020304" pitchFamily="18" charset="0"/>
                <a:cs typeface="Times New Roman" panose="02020603050405020304" pitchFamily="18" charset="0"/>
              </a:rPr>
              <a:t>browse available products</a:t>
            </a:r>
            <a:r>
              <a:rPr lang="en-US" sz="2600" dirty="0">
                <a:latin typeface="Times New Roman" panose="02020603050405020304" pitchFamily="18" charset="0"/>
                <a:cs typeface="Times New Roman" panose="02020603050405020304" pitchFamily="18" charset="0"/>
              </a:rPr>
              <a:t>, </a:t>
            </a:r>
            <a:r>
              <a:rPr lang="en-US" sz="2600" b="1" dirty="0">
                <a:latin typeface="Times New Roman" panose="02020603050405020304" pitchFamily="18" charset="0"/>
                <a:cs typeface="Times New Roman" panose="02020603050405020304" pitchFamily="18" charset="0"/>
              </a:rPr>
              <a:t>place orders online</a:t>
            </a:r>
            <a:r>
              <a:rPr lang="en-US" sz="2600" dirty="0">
                <a:latin typeface="Times New Roman" panose="02020603050405020304" pitchFamily="18" charset="0"/>
                <a:cs typeface="Times New Roman" panose="02020603050405020304" pitchFamily="18" charset="0"/>
              </a:rPr>
              <a:t>, and then </a:t>
            </a:r>
            <a:r>
              <a:rPr lang="en-US" sz="2600" b="1" dirty="0">
                <a:latin typeface="Times New Roman" panose="02020603050405020304" pitchFamily="18" charset="0"/>
                <a:cs typeface="Times New Roman" panose="02020603050405020304" pitchFamily="18" charset="0"/>
              </a:rPr>
              <a:t>visit the shop with necessary documents</a:t>
            </a:r>
            <a:r>
              <a:rPr lang="en-US" sz="2600" dirty="0">
                <a:latin typeface="Times New Roman" panose="02020603050405020304" pitchFamily="18" charset="0"/>
                <a:cs typeface="Times New Roman" panose="02020603050405020304" pitchFamily="18" charset="0"/>
              </a:rPr>
              <a:t> for pickup, ensuring transparency and verification. This project successfully blends functionality with simplicity, offering a secure and manageable system for real-world agricultural commerce needs. Future enhancements may include digital payment integration, live order tracking, and farmer-specific logins to scale operations further.</a:t>
            </a:r>
            <a:endParaRPr lang="en-IN" sz="2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886869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AA1DBF5-5722-146B-7D02-A1A63A07F821}"/>
              </a:ext>
            </a:extLst>
          </p:cNvPr>
          <p:cNvSpPr txBox="1"/>
          <p:nvPr/>
        </p:nvSpPr>
        <p:spPr>
          <a:xfrm>
            <a:off x="2652666" y="2507810"/>
            <a:ext cx="7595857" cy="1631216"/>
          </a:xfrm>
          <a:prstGeom prst="rect">
            <a:avLst/>
          </a:prstGeom>
          <a:noFill/>
        </p:spPr>
        <p:txBody>
          <a:bodyPr wrap="square" rtlCol="0">
            <a:spAutoFit/>
          </a:bodyPr>
          <a:lstStyle/>
          <a:p>
            <a:r>
              <a:rPr lang="en-IN" sz="10000" dirty="0">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50124236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1217</TotalTime>
  <Words>918</Words>
  <Application>Microsoft Office PowerPoint</Application>
  <PresentationFormat>Widescreen</PresentationFormat>
  <Paragraphs>142</Paragraphs>
  <Slides>17</Slides>
  <Notes>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17</vt:i4>
      </vt:variant>
    </vt:vector>
  </HeadingPairs>
  <TitlesOfParts>
    <vt:vector size="26" baseType="lpstr">
      <vt:lpstr>Arial</vt:lpstr>
      <vt:lpstr>Calibri</vt:lpstr>
      <vt:lpstr>Calibri Light</vt:lpstr>
      <vt:lpstr>Funnel Sans</vt:lpstr>
      <vt:lpstr>Inter</vt:lpstr>
      <vt:lpstr>Manrope</vt:lpstr>
      <vt:lpstr>Mona Sans Semi Bold</vt:lpstr>
      <vt:lpstr>Times New Roman</vt:lpstr>
      <vt:lpstr>Office Theme</vt:lpstr>
      <vt:lpstr>     JANATA SHIKSHANA SAMITI’S  SHRI MANJUNATESHWARA INSTITUTE  OF  UG AND PG STUDIES, DHARWAD    </vt:lpstr>
      <vt:lpstr>    </vt:lpstr>
      <vt:lpstr>PowerPoint Presentation</vt:lpstr>
      <vt:lpstr>          Introduction </vt:lpstr>
      <vt:lpstr>PowerPoint Presentation</vt:lpstr>
      <vt:lpstr>PowerPoint Presentation</vt:lpstr>
      <vt:lpstr>PowerPoint Presentation</vt:lpstr>
      <vt:lpstr>          Process Logic </vt:lpstr>
      <vt:lpstr>PowerPoint Presentation</vt:lpstr>
      <vt:lpstr>PowerPoint Presentation</vt:lpstr>
      <vt:lpstr>Admin Dashboard</vt:lpstr>
      <vt:lpstr>Customer Dashboard</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mayurdesai0623@gmail.com</dc:creator>
  <cp:lastModifiedBy>Mayur Desai</cp:lastModifiedBy>
  <cp:revision>9</cp:revision>
  <dcterms:created xsi:type="dcterms:W3CDTF">2025-05-21T05:55:03Z</dcterms:created>
  <dcterms:modified xsi:type="dcterms:W3CDTF">2025-05-26T03:00:25Z</dcterms:modified>
</cp:coreProperties>
</file>